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670095-CFEC-42A0-BDEF-1A351EA069E8}">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311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09848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E"/>
        </a:solidFill>
        <a:effectLst/>
      </p:bgPr>
    </p:bg>
    <p:spTree>
      <p:nvGrpSpPr>
        <p:cNvPr id="1" name=""/>
        <p:cNvGrpSpPr/>
        <p:nvPr/>
      </p:nvGrpSpPr>
      <p:grpSpPr>
        <a:xfrm>
          <a:off x="0" y="0"/>
          <a:ext cx="0" cy="0"/>
          <a:chOff x="0" y="0"/>
          <a:chExt cx="0" cy="0"/>
        </a:xfrm>
      </p:grpSpPr>
      <p:sp>
        <p:nvSpPr>
          <p:cNvPr id="2" name="Shape 0"/>
          <p:cNvSpPr/>
          <p:nvPr/>
        </p:nvSpPr>
        <p:spPr>
          <a:xfrm>
            <a:off x="9761778" y="-1949233"/>
            <a:ext cx="4114800" cy="4114800"/>
          </a:xfrm>
          <a:prstGeom prst="ellipse">
            <a:avLst/>
          </a:prstGeom>
          <a:solidFill>
            <a:srgbClr val="2C5F2D">
              <a:alpha val="60000"/>
            </a:srgbClr>
          </a:solidFill>
          <a:ln/>
        </p:spPr>
      </p:sp>
      <p:sp>
        <p:nvSpPr>
          <p:cNvPr id="3" name="Shape 1"/>
          <p:cNvSpPr/>
          <p:nvPr/>
        </p:nvSpPr>
        <p:spPr>
          <a:xfrm>
            <a:off x="-1393902" y="3902927"/>
            <a:ext cx="3840480" cy="3840480"/>
          </a:xfrm>
          <a:prstGeom prst="ellipse">
            <a:avLst/>
          </a:prstGeom>
          <a:solidFill>
            <a:srgbClr val="6E9B4A">
              <a:alpha val="45000"/>
            </a:srgbClr>
          </a:solidFill>
          <a:ln/>
        </p:spPr>
      </p:sp>
      <p:sp>
        <p:nvSpPr>
          <p:cNvPr id="4" name="Text 2"/>
          <p:cNvSpPr/>
          <p:nvPr/>
        </p:nvSpPr>
        <p:spPr>
          <a:xfrm>
            <a:off x="892098" y="1809843"/>
            <a:ext cx="9144000" cy="365760"/>
          </a:xfrm>
          <a:prstGeom prst="rect">
            <a:avLst/>
          </a:prstGeom>
          <a:noFill/>
          <a:ln/>
        </p:spPr>
        <p:txBody>
          <a:bodyPr wrap="square" rtlCol="0" anchor="ctr"/>
          <a:lstStyle/>
          <a:p>
            <a:pPr marL="0" indent="0">
              <a:buNone/>
            </a:pPr>
            <a:r>
              <a:rPr lang="en-US" sz="2800" b="1" kern="0" spc="200" dirty="0">
                <a:solidFill>
                  <a:schemeClr val="accent2"/>
                </a:solidFill>
                <a:latin typeface="Calibri" pitchFamily="34" charset="0"/>
                <a:ea typeface="Calibri" pitchFamily="34" charset="-122"/>
                <a:cs typeface="Calibri" pitchFamily="34" charset="-120"/>
              </a:rPr>
              <a:t>CAPSTONE PROJECT  -  AGRICULTURE / AGRITECH</a:t>
            </a:r>
            <a:endParaRPr lang="en-US" sz="2800" b="1" dirty="0">
              <a:solidFill>
                <a:schemeClr val="accent2"/>
              </a:solidFill>
            </a:endParaRPr>
          </a:p>
        </p:txBody>
      </p:sp>
      <p:sp>
        <p:nvSpPr>
          <p:cNvPr id="5" name="Text 3"/>
          <p:cNvSpPr/>
          <p:nvPr/>
        </p:nvSpPr>
        <p:spPr>
          <a:xfrm>
            <a:off x="846378" y="2076914"/>
            <a:ext cx="10515600" cy="1188720"/>
          </a:xfrm>
          <a:prstGeom prst="rect">
            <a:avLst/>
          </a:prstGeom>
          <a:noFill/>
          <a:ln/>
        </p:spPr>
        <p:txBody>
          <a:bodyPr wrap="square" rtlCol="0" anchor="ctr"/>
          <a:lstStyle/>
          <a:p>
            <a:pPr marL="0" indent="0">
              <a:buNone/>
            </a:pPr>
            <a:r>
              <a:rPr lang="en-US" sz="7200" b="1" dirty="0">
                <a:solidFill>
                  <a:srgbClr val="FFFFFF"/>
                </a:solidFill>
                <a:latin typeface="Cambria" pitchFamily="34" charset="0"/>
                <a:ea typeface="Cambria" pitchFamily="34" charset="-122"/>
                <a:cs typeface="BrowalliaUPC" panose="020B0604020202020204" pitchFamily="34" charset="-34"/>
              </a:rPr>
              <a:t>Predicting Crop Yield</a:t>
            </a:r>
            <a:endParaRPr lang="en-US" sz="7200" b="1" dirty="0"/>
          </a:p>
        </p:txBody>
      </p:sp>
      <p:sp>
        <p:nvSpPr>
          <p:cNvPr id="6" name="Text 4"/>
          <p:cNvSpPr/>
          <p:nvPr/>
        </p:nvSpPr>
        <p:spPr>
          <a:xfrm>
            <a:off x="892097" y="3326408"/>
            <a:ext cx="9477051" cy="731520"/>
          </a:xfrm>
          <a:prstGeom prst="rect">
            <a:avLst/>
          </a:prstGeom>
          <a:noFill/>
          <a:ln/>
        </p:spPr>
        <p:txBody>
          <a:bodyPr wrap="square" rtlCol="0" anchor="ctr"/>
          <a:lstStyle/>
          <a:p>
            <a:pPr marL="0" indent="0">
              <a:buNone/>
            </a:pPr>
            <a:r>
              <a:rPr lang="en-US" sz="2400" b="1" i="1" dirty="0">
                <a:solidFill>
                  <a:srgbClr val="E7F0DD"/>
                </a:solidFill>
                <a:latin typeface="Calibri" pitchFamily="34" charset="0"/>
                <a:ea typeface="Calibri" pitchFamily="34" charset="-122"/>
                <a:cs typeface="Calibri" pitchFamily="34" charset="-120"/>
              </a:rPr>
              <a:t>Using Environmental And Agricultural Data To Forecast Harvests, Guide Farmer Decisions, And Inform Agricultural Policy</a:t>
            </a:r>
            <a:endParaRPr lang="en-US" sz="2400" b="1" dirty="0"/>
          </a:p>
        </p:txBody>
      </p:sp>
      <p:sp>
        <p:nvSpPr>
          <p:cNvPr id="7" name="Shape 5"/>
          <p:cNvSpPr/>
          <p:nvPr/>
        </p:nvSpPr>
        <p:spPr>
          <a:xfrm>
            <a:off x="992458" y="4220735"/>
            <a:ext cx="2011680" cy="0"/>
          </a:xfrm>
          <a:prstGeom prst="line">
            <a:avLst/>
          </a:prstGeom>
          <a:noFill/>
          <a:ln w="31750">
            <a:solidFill>
              <a:srgbClr val="C68A2E"/>
            </a:solidFill>
            <a:prstDash val="solid"/>
          </a:ln>
        </p:spPr>
      </p:sp>
      <p:sp>
        <p:nvSpPr>
          <p:cNvPr id="10" name="Text 4">
            <a:extLst>
              <a:ext uri="{FF2B5EF4-FFF2-40B4-BE49-F238E27FC236}">
                <a16:creationId xmlns:a16="http://schemas.microsoft.com/office/drawing/2014/main" id="{7207BA62-B112-AD04-C233-FB59B600C8D9}"/>
              </a:ext>
            </a:extLst>
          </p:cNvPr>
          <p:cNvSpPr/>
          <p:nvPr/>
        </p:nvSpPr>
        <p:spPr>
          <a:xfrm>
            <a:off x="1590908" y="4838515"/>
            <a:ext cx="8778240" cy="731520"/>
          </a:xfrm>
          <a:prstGeom prst="rect">
            <a:avLst/>
          </a:prstGeom>
          <a:noFill/>
          <a:ln/>
        </p:spPr>
        <p:txBody>
          <a:bodyPr wrap="square" rtlCol="0" anchor="ctr"/>
          <a:lstStyle/>
          <a:p>
            <a:pPr marL="0" indent="0" algn="ctr">
              <a:buNone/>
            </a:pPr>
            <a:r>
              <a:rPr lang="en-US" sz="4800" b="1" kern="1700" spc="100" dirty="0">
                <a:solidFill>
                  <a:schemeClr val="accent2"/>
                </a:solidFill>
                <a:latin typeface="BrowalliaUPC" panose="020B0604020202020204" pitchFamily="34" charset="-34"/>
                <a:ea typeface="Calibri" pitchFamily="34" charset="-122"/>
                <a:cs typeface="BrowalliaUPC" panose="020B0604020202020204" pitchFamily="34" charset="-34"/>
              </a:rPr>
              <a:t>TEAM CODEX</a:t>
            </a:r>
            <a:endParaRPr lang="en-US" sz="4000" b="1" kern="1700" spc="100" dirty="0">
              <a:solidFill>
                <a:schemeClr val="accent2"/>
              </a:solidFill>
              <a:latin typeface="BrowalliaUPC" panose="020B0604020202020204" pitchFamily="34" charset="-34"/>
              <a:cs typeface="BrowalliaUPC" panose="020B0604020202020204" pitchFamily="34" charset="-34"/>
            </a:endParaRPr>
          </a:p>
        </p:txBody>
      </p:sp>
      <p:sp>
        <p:nvSpPr>
          <p:cNvPr id="13" name="Text 4">
            <a:extLst>
              <a:ext uri="{FF2B5EF4-FFF2-40B4-BE49-F238E27FC236}">
                <a16:creationId xmlns:a16="http://schemas.microsoft.com/office/drawing/2014/main" id="{9995B1E4-C0AD-2A60-E616-DA17F29F4DB1}"/>
              </a:ext>
            </a:extLst>
          </p:cNvPr>
          <p:cNvSpPr/>
          <p:nvPr/>
        </p:nvSpPr>
        <p:spPr>
          <a:xfrm>
            <a:off x="5307935" y="6210299"/>
            <a:ext cx="1344185" cy="446422"/>
          </a:xfrm>
          <a:prstGeom prst="rect">
            <a:avLst/>
          </a:prstGeom>
          <a:noFill/>
          <a:ln/>
        </p:spPr>
        <p:txBody>
          <a:bodyPr wrap="square" rtlCol="0" anchor="ctr"/>
          <a:lstStyle/>
          <a:p>
            <a:pPr marL="0" indent="0" algn="ctr">
              <a:buNone/>
            </a:pPr>
            <a:r>
              <a:rPr lang="en-US" sz="2800" b="1" kern="1700" spc="100" dirty="0">
                <a:solidFill>
                  <a:schemeClr val="bg1">
                    <a:lumMod val="65000"/>
                  </a:schemeClr>
                </a:solidFill>
                <a:latin typeface="BrowalliaUPC" panose="020B0604020202020204" pitchFamily="34" charset="-34"/>
                <a:ea typeface="Calibri" pitchFamily="34" charset="-122"/>
                <a:cs typeface="BrowalliaUPC" panose="020B0604020202020204" pitchFamily="34" charset="-34"/>
              </a:rPr>
              <a:t>2026</a:t>
            </a:r>
            <a:endParaRPr lang="en-US" sz="2000" b="1" kern="1700" spc="100" dirty="0">
              <a:solidFill>
                <a:schemeClr val="bg1">
                  <a:lumMod val="65000"/>
                </a:schemeClr>
              </a:solidFill>
              <a:latin typeface="BrowalliaUPC" panose="020B0604020202020204" pitchFamily="34" charset="-34"/>
              <a:cs typeface="BrowalliaUPC" panose="020B0604020202020204" pitchFamily="34" charset="-3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7" name="Shape 5">
            <a:extLst>
              <a:ext uri="{FF2B5EF4-FFF2-40B4-BE49-F238E27FC236}">
                <a16:creationId xmlns:a16="http://schemas.microsoft.com/office/drawing/2014/main" id="{F4CDB8BF-17A9-69C0-15B2-6CA6A5B03903}"/>
              </a:ext>
            </a:extLst>
          </p:cNvPr>
          <p:cNvSpPr/>
          <p:nvPr/>
        </p:nvSpPr>
        <p:spPr>
          <a:xfrm>
            <a:off x="-96430" y="4235266"/>
            <a:ext cx="7706605" cy="460590"/>
          </a:xfrm>
          <a:prstGeom prst="roundRect">
            <a:avLst>
              <a:gd name="adj" fmla="val 6780"/>
            </a:avLst>
          </a:prstGeom>
          <a:solidFill>
            <a:srgbClr val="E7F0DD"/>
          </a:solidFill>
          <a:ln/>
        </p:spPr>
        <p:txBody>
          <a:bodyPr/>
          <a:lstStyle/>
          <a:p>
            <a:endParaRPr lang="en-GB" dirty="0"/>
          </a:p>
        </p:txBody>
      </p:sp>
      <p:sp>
        <p:nvSpPr>
          <p:cNvPr id="46" name="Shape 5">
            <a:extLst>
              <a:ext uri="{FF2B5EF4-FFF2-40B4-BE49-F238E27FC236}">
                <a16:creationId xmlns:a16="http://schemas.microsoft.com/office/drawing/2014/main" id="{2686F5F4-6372-6DB7-C337-ADB6C6D6E995}"/>
              </a:ext>
            </a:extLst>
          </p:cNvPr>
          <p:cNvSpPr/>
          <p:nvPr/>
        </p:nvSpPr>
        <p:spPr>
          <a:xfrm>
            <a:off x="0" y="1026318"/>
            <a:ext cx="7706605" cy="460590"/>
          </a:xfrm>
          <a:prstGeom prst="roundRect">
            <a:avLst>
              <a:gd name="adj" fmla="val 6780"/>
            </a:avLst>
          </a:prstGeom>
          <a:solidFill>
            <a:srgbClr val="E7F0DD"/>
          </a:solidFill>
          <a:ln/>
        </p:spPr>
        <p:txBody>
          <a:bodyPr/>
          <a:lstStyle/>
          <a:p>
            <a:endParaRPr lang="en-GB" dirty="0"/>
          </a:p>
        </p:txBody>
      </p:sp>
      <p:graphicFrame>
        <p:nvGraphicFramePr>
          <p:cNvPr id="31" name="Table 0">
            <a:extLst>
              <a:ext uri="{FF2B5EF4-FFF2-40B4-BE49-F238E27FC236}">
                <a16:creationId xmlns:a16="http://schemas.microsoft.com/office/drawing/2014/main" id="{2C5D48E1-73CB-372A-30DC-3672E9954590}"/>
              </a:ext>
            </a:extLst>
          </p:cNvPr>
          <p:cNvGraphicFramePr>
            <a:graphicFrameLocks noGrp="1"/>
          </p:cNvGraphicFramePr>
          <p:nvPr>
            <p:extLst>
              <p:ext uri="{D42A27DB-BD31-4B8C-83A1-F6EECF244321}">
                <p14:modId xmlns:p14="http://schemas.microsoft.com/office/powerpoint/2010/main" val="1170411847"/>
              </p:ext>
            </p:extLst>
          </p:nvPr>
        </p:nvGraphicFramePr>
        <p:xfrm>
          <a:off x="4356783" y="275769"/>
          <a:ext cx="3427880" cy="563880"/>
        </p:xfrm>
        <a:graphic>
          <a:graphicData uri="http://schemas.openxmlformats.org/drawingml/2006/table">
            <a:tbl>
              <a:tblPr/>
              <a:tblGrid>
                <a:gridCol w="509933">
                  <a:extLst>
                    <a:ext uri="{9D8B030D-6E8A-4147-A177-3AD203B41FA5}">
                      <a16:colId xmlns:a16="http://schemas.microsoft.com/office/drawing/2014/main" val="20000"/>
                    </a:ext>
                  </a:extLst>
                </a:gridCol>
                <a:gridCol w="2917947">
                  <a:extLst>
                    <a:ext uri="{9D8B030D-6E8A-4147-A177-3AD203B41FA5}">
                      <a16:colId xmlns:a16="http://schemas.microsoft.com/office/drawing/2014/main" val="20001"/>
                    </a:ext>
                  </a:extLst>
                </a:gridCol>
              </a:tblGrid>
              <a:tr h="265176">
                <a:tc>
                  <a:txBody>
                    <a:bodyPr/>
                    <a:lstStyle/>
                    <a:p>
                      <a:pPr marL="0" indent="0">
                        <a:buNone/>
                      </a:pPr>
                      <a:endParaRPr lang="en-US" sz="12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0DD"/>
                    </a:solidFill>
                  </a:tcPr>
                </a:tc>
                <a:tc>
                  <a:txBody>
                    <a:bodyPr/>
                    <a:lstStyle/>
                    <a:p>
                      <a:pPr marL="0" indent="0">
                        <a:buNone/>
                      </a:pPr>
                      <a:endParaRPr lang="en-US" sz="12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0DD"/>
                    </a:solidFill>
                  </a:tcPr>
                </a:tc>
                <a:extLst>
                  <a:ext uri="{0D108BD9-81ED-4DB2-BD59-A6C34878D82A}">
                    <a16:rowId xmlns:a16="http://schemas.microsoft.com/office/drawing/2014/main" val="10000"/>
                  </a:ext>
                </a:extLst>
              </a:tr>
              <a:tr h="265176">
                <a:tc>
                  <a:txBody>
                    <a:bodyPr/>
                    <a:lstStyle/>
                    <a:p>
                      <a:pPr marL="0" indent="0">
                        <a:buNone/>
                      </a:pPr>
                      <a:endParaRPr lang="en-US" sz="12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0DD"/>
                    </a:solidFill>
                  </a:tcPr>
                </a:tc>
                <a:tc>
                  <a:txBody>
                    <a:bodyPr/>
                    <a:lstStyle/>
                    <a:p>
                      <a:pPr marL="0" indent="0">
                        <a:buNone/>
                      </a:pPr>
                      <a:endParaRPr lang="en-US" sz="12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7F0DD"/>
                    </a:solidFill>
                  </a:tcPr>
                </a:tc>
                <a:extLst>
                  <a:ext uri="{0D108BD9-81ED-4DB2-BD59-A6C34878D82A}">
                    <a16:rowId xmlns:a16="http://schemas.microsoft.com/office/drawing/2014/main" val="10001"/>
                  </a:ext>
                </a:extLst>
              </a:tr>
            </a:tbl>
          </a:graphicData>
        </a:graphic>
      </p:graphicFrame>
      <p:sp>
        <p:nvSpPr>
          <p:cNvPr id="2" name="Text 0"/>
          <p:cNvSpPr/>
          <p:nvPr/>
        </p:nvSpPr>
        <p:spPr>
          <a:xfrm>
            <a:off x="4356783" y="386055"/>
            <a:ext cx="7315200" cy="320040"/>
          </a:xfrm>
          <a:prstGeom prst="rect">
            <a:avLst/>
          </a:prstGeom>
          <a:noFill/>
          <a:ln/>
        </p:spPr>
        <p:txBody>
          <a:bodyPr wrap="square" rtlCol="0" anchor="ctr"/>
          <a:lstStyle/>
          <a:p>
            <a:pPr marL="0" indent="0">
              <a:buNone/>
            </a:pPr>
            <a:r>
              <a:rPr lang="en-US" sz="4000" b="1" kern="0" spc="150" dirty="0">
                <a:solidFill>
                  <a:schemeClr val="accent6">
                    <a:lumMod val="50000"/>
                  </a:schemeClr>
                </a:solidFill>
                <a:ea typeface="Calibri" pitchFamily="34" charset="-122"/>
                <a:cs typeface="Calibri" pitchFamily="34" charset="-120"/>
              </a:rPr>
              <a:t>BACKGROUND</a:t>
            </a:r>
            <a:endParaRPr lang="en-US" sz="4000" dirty="0">
              <a:solidFill>
                <a:schemeClr val="accent6">
                  <a:lumMod val="50000"/>
                </a:schemeClr>
              </a:solidFill>
            </a:endParaRPr>
          </a:p>
        </p:txBody>
      </p:sp>
      <p:sp>
        <p:nvSpPr>
          <p:cNvPr id="3" name="Text 1"/>
          <p:cNvSpPr/>
          <p:nvPr/>
        </p:nvSpPr>
        <p:spPr>
          <a:xfrm>
            <a:off x="548640" y="914845"/>
            <a:ext cx="11064240" cy="640080"/>
          </a:xfrm>
          <a:prstGeom prst="rect">
            <a:avLst/>
          </a:prstGeom>
          <a:noFill/>
          <a:ln/>
        </p:spPr>
        <p:txBody>
          <a:bodyPr wrap="square" rtlCol="0" anchor="ctr"/>
          <a:lstStyle/>
          <a:p>
            <a:pPr marL="0" indent="0">
              <a:buNone/>
            </a:pPr>
            <a:r>
              <a:rPr lang="en-US" sz="2800" b="1" dirty="0">
                <a:solidFill>
                  <a:schemeClr val="accent6">
                    <a:lumMod val="50000"/>
                  </a:schemeClr>
                </a:solidFill>
                <a:ea typeface="Cambria" pitchFamily="34" charset="-122"/>
                <a:cs typeface="Cambria" pitchFamily="34" charset="-120"/>
              </a:rPr>
              <a:t>WHY PREDICT CROP YIELD?</a:t>
            </a:r>
            <a:endParaRPr lang="en-US" sz="2800" dirty="0">
              <a:solidFill>
                <a:schemeClr val="accent6">
                  <a:lumMod val="50000"/>
                </a:schemeClr>
              </a:solidFill>
            </a:endParaRPr>
          </a:p>
        </p:txBody>
      </p:sp>
      <p:sp>
        <p:nvSpPr>
          <p:cNvPr id="4" name="Text 2"/>
          <p:cNvSpPr/>
          <p:nvPr/>
        </p:nvSpPr>
        <p:spPr>
          <a:xfrm>
            <a:off x="548639" y="1600200"/>
            <a:ext cx="6866921" cy="2398620"/>
          </a:xfrm>
          <a:prstGeom prst="rect">
            <a:avLst/>
          </a:prstGeom>
          <a:noFill/>
          <a:ln/>
        </p:spPr>
        <p:txBody>
          <a:bodyPr wrap="square" rtlCol="0" anchor="t"/>
          <a:lstStyle/>
          <a:p>
            <a:pPr marL="0" indent="0" algn="just">
              <a:lnSpc>
                <a:spcPct val="115000"/>
              </a:lnSpc>
              <a:spcAft>
                <a:spcPts val="1000"/>
              </a:spcAft>
              <a:buNone/>
            </a:pPr>
            <a:r>
              <a:rPr lang="en-US" b="1" dirty="0">
                <a:solidFill>
                  <a:schemeClr val="accent6">
                    <a:lumMod val="50000"/>
                  </a:schemeClr>
                </a:solidFill>
                <a:ea typeface="Calibri" pitchFamily="34" charset="-122"/>
                <a:cs typeface="Calibri" pitchFamily="34" charset="-120"/>
              </a:rPr>
              <a:t>Farmers face constant uncertainty arising from changing rainfall patterns, temperature patterns, temperature variations, pesticide use, crop characteristics, and geographical differences, making it difficult to plan production, allocate resources, and manage market risks.</a:t>
            </a:r>
            <a:endParaRPr lang="en-US" b="1" dirty="0">
              <a:solidFill>
                <a:schemeClr val="accent6">
                  <a:lumMod val="50000"/>
                </a:schemeClr>
              </a:solidFill>
            </a:endParaRPr>
          </a:p>
          <a:p>
            <a:pPr marL="0" indent="0" algn="just">
              <a:lnSpc>
                <a:spcPct val="115000"/>
              </a:lnSpc>
              <a:buNone/>
            </a:pPr>
            <a:r>
              <a:rPr lang="en-US" b="1" dirty="0">
                <a:solidFill>
                  <a:schemeClr val="accent6">
                    <a:lumMod val="50000"/>
                  </a:schemeClr>
                </a:solidFill>
                <a:ea typeface="Calibri" pitchFamily="34" charset="-122"/>
                <a:cs typeface="Calibri" pitchFamily="34" charset="-120"/>
              </a:rPr>
              <a:t>Forecasting yield ahead of harvest turns that uncertainty into a plannable input - for the farmer, and for the policymakers who support them.</a:t>
            </a:r>
            <a:endParaRPr lang="en-US" b="1" dirty="0">
              <a:solidFill>
                <a:schemeClr val="accent6">
                  <a:lumMod val="50000"/>
                </a:schemeClr>
              </a:solidFill>
            </a:endParaRPr>
          </a:p>
        </p:txBody>
      </p:sp>
      <p:sp>
        <p:nvSpPr>
          <p:cNvPr id="5" name="Text 3"/>
          <p:cNvSpPr/>
          <p:nvPr/>
        </p:nvSpPr>
        <p:spPr>
          <a:xfrm>
            <a:off x="548640" y="4289874"/>
            <a:ext cx="5486400" cy="365760"/>
          </a:xfrm>
          <a:prstGeom prst="rect">
            <a:avLst/>
          </a:prstGeom>
          <a:noFill/>
          <a:ln/>
        </p:spPr>
        <p:txBody>
          <a:bodyPr wrap="square" rtlCol="0" anchor="ctr"/>
          <a:lstStyle/>
          <a:p>
            <a:pPr marL="0" indent="0">
              <a:buNone/>
            </a:pPr>
            <a:r>
              <a:rPr lang="en-US" sz="2800" b="1" dirty="0">
                <a:solidFill>
                  <a:srgbClr val="2C5F2D"/>
                </a:solidFill>
                <a:ea typeface="Cambria" pitchFamily="34" charset="-122"/>
                <a:cs typeface="Cambria" pitchFamily="34" charset="-120"/>
              </a:rPr>
              <a:t>OBJECTIVE</a:t>
            </a:r>
            <a:endParaRPr lang="en-US" sz="2800" b="1" dirty="0"/>
          </a:p>
        </p:txBody>
      </p:sp>
      <p:sp>
        <p:nvSpPr>
          <p:cNvPr id="6" name="Text 4"/>
          <p:cNvSpPr/>
          <p:nvPr/>
        </p:nvSpPr>
        <p:spPr>
          <a:xfrm>
            <a:off x="572056" y="4526320"/>
            <a:ext cx="6921564" cy="1280160"/>
          </a:xfrm>
          <a:prstGeom prst="rect">
            <a:avLst/>
          </a:prstGeom>
          <a:noFill/>
          <a:ln/>
        </p:spPr>
        <p:txBody>
          <a:bodyPr wrap="square" rtlCol="0" anchor="ctr"/>
          <a:lstStyle/>
          <a:p>
            <a:pPr marL="0" indent="0" algn="just">
              <a:lnSpc>
                <a:spcPct val="115000"/>
              </a:lnSpc>
              <a:buNone/>
            </a:pPr>
            <a:r>
              <a:rPr lang="en-US" b="1" dirty="0">
                <a:solidFill>
                  <a:schemeClr val="accent6">
                    <a:lumMod val="50000"/>
                  </a:schemeClr>
                </a:solidFill>
                <a:ea typeface="Calibri" pitchFamily="34" charset="-122"/>
                <a:cs typeface="Calibri" pitchFamily="34" charset="-120"/>
              </a:rPr>
              <a:t>Identify which environmental and agricultural features most influence crop yield, build a regression model to predict it, and translate the results into practical guidance for farmers and policy planning.</a:t>
            </a:r>
            <a:endParaRPr lang="en-US" b="1" dirty="0">
              <a:solidFill>
                <a:schemeClr val="accent6">
                  <a:lumMod val="50000"/>
                </a:schemeClr>
              </a:solidFill>
            </a:endParaRPr>
          </a:p>
        </p:txBody>
      </p:sp>
      <p:sp>
        <p:nvSpPr>
          <p:cNvPr id="7" name="Shape 5"/>
          <p:cNvSpPr/>
          <p:nvPr/>
        </p:nvSpPr>
        <p:spPr>
          <a:xfrm>
            <a:off x="7878323" y="1522143"/>
            <a:ext cx="3730083" cy="729921"/>
          </a:xfrm>
          <a:prstGeom prst="roundRect">
            <a:avLst>
              <a:gd name="adj" fmla="val 6780"/>
            </a:avLst>
          </a:prstGeom>
          <a:solidFill>
            <a:srgbClr val="E7F0DD"/>
          </a:solidFill>
          <a:ln/>
        </p:spPr>
        <p:txBody>
          <a:bodyPr/>
          <a:lstStyle/>
          <a:p>
            <a:endParaRPr lang="en-GB" dirty="0"/>
          </a:p>
        </p:txBody>
      </p:sp>
      <p:sp>
        <p:nvSpPr>
          <p:cNvPr id="8" name="Shape 6"/>
          <p:cNvSpPr/>
          <p:nvPr/>
        </p:nvSpPr>
        <p:spPr>
          <a:xfrm>
            <a:off x="8061203" y="1558719"/>
            <a:ext cx="640080" cy="640080"/>
          </a:xfrm>
          <a:prstGeom prst="ellipse">
            <a:avLst/>
          </a:prstGeom>
          <a:solidFill>
            <a:srgbClr val="2C5F2D"/>
          </a:solidFill>
          <a:ln/>
        </p:spPr>
      </p:sp>
      <p:sp>
        <p:nvSpPr>
          <p:cNvPr id="9" name="Text 7"/>
          <p:cNvSpPr/>
          <p:nvPr/>
        </p:nvSpPr>
        <p:spPr>
          <a:xfrm>
            <a:off x="8061203" y="1558719"/>
            <a:ext cx="64008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8838443" y="1627299"/>
            <a:ext cx="3383280" cy="320040"/>
          </a:xfrm>
          <a:prstGeom prst="rect">
            <a:avLst/>
          </a:prstGeom>
          <a:noFill/>
          <a:ln/>
        </p:spPr>
        <p:txBody>
          <a:bodyPr wrap="square" rtlCol="0" anchor="ctr"/>
          <a:lstStyle/>
          <a:p>
            <a:pPr marL="0" indent="0">
              <a:buNone/>
            </a:pPr>
            <a:r>
              <a:rPr lang="en-US" sz="1600" b="1" dirty="0">
                <a:solidFill>
                  <a:srgbClr val="2A2E24"/>
                </a:solidFill>
                <a:ea typeface="Cambria" pitchFamily="34" charset="-122"/>
                <a:cs typeface="Cambria" pitchFamily="34" charset="-120"/>
              </a:rPr>
              <a:t>Explore</a:t>
            </a:r>
            <a:endParaRPr lang="en-US" sz="1600" dirty="0"/>
          </a:p>
        </p:txBody>
      </p:sp>
      <p:sp>
        <p:nvSpPr>
          <p:cNvPr id="11" name="Text 9"/>
          <p:cNvSpPr/>
          <p:nvPr/>
        </p:nvSpPr>
        <p:spPr>
          <a:xfrm>
            <a:off x="8884163" y="1796463"/>
            <a:ext cx="3383280" cy="548640"/>
          </a:xfrm>
          <a:prstGeom prst="rect">
            <a:avLst/>
          </a:prstGeom>
          <a:noFill/>
          <a:ln/>
        </p:spPr>
        <p:txBody>
          <a:bodyPr wrap="square" rtlCol="0" anchor="ctr"/>
          <a:lstStyle/>
          <a:p>
            <a:pPr marL="0" indent="0">
              <a:lnSpc>
                <a:spcPct val="105000"/>
              </a:lnSpc>
              <a:buNone/>
            </a:pPr>
            <a:r>
              <a:rPr lang="en-US" sz="1150" dirty="0">
                <a:solidFill>
                  <a:srgbClr val="6B7266"/>
                </a:solidFill>
                <a:ea typeface="Calibri" pitchFamily="34" charset="-122"/>
                <a:cs typeface="Calibri" pitchFamily="34" charset="-120"/>
              </a:rPr>
              <a:t>Uncover which features improves yield</a:t>
            </a:r>
            <a:endParaRPr lang="en-US" sz="1150" dirty="0"/>
          </a:p>
        </p:txBody>
      </p:sp>
      <p:sp>
        <p:nvSpPr>
          <p:cNvPr id="12" name="Shape 10"/>
          <p:cNvSpPr/>
          <p:nvPr/>
        </p:nvSpPr>
        <p:spPr>
          <a:xfrm>
            <a:off x="7878323" y="2729151"/>
            <a:ext cx="3730083" cy="792555"/>
          </a:xfrm>
          <a:prstGeom prst="roundRect">
            <a:avLst>
              <a:gd name="adj" fmla="val 6780"/>
            </a:avLst>
          </a:prstGeom>
          <a:solidFill>
            <a:srgbClr val="E7F0DD"/>
          </a:solidFill>
          <a:ln/>
        </p:spPr>
      </p:sp>
      <p:sp>
        <p:nvSpPr>
          <p:cNvPr id="13" name="Shape 11"/>
          <p:cNvSpPr/>
          <p:nvPr/>
        </p:nvSpPr>
        <p:spPr>
          <a:xfrm>
            <a:off x="8061203" y="2802303"/>
            <a:ext cx="640080" cy="640080"/>
          </a:xfrm>
          <a:prstGeom prst="ellipse">
            <a:avLst/>
          </a:prstGeom>
          <a:solidFill>
            <a:srgbClr val="2C5F2D"/>
          </a:solidFill>
          <a:ln/>
        </p:spPr>
      </p:sp>
      <p:sp>
        <p:nvSpPr>
          <p:cNvPr id="14" name="Text 12"/>
          <p:cNvSpPr/>
          <p:nvPr/>
        </p:nvSpPr>
        <p:spPr>
          <a:xfrm>
            <a:off x="8061203" y="2802303"/>
            <a:ext cx="64008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8884163" y="2835756"/>
            <a:ext cx="3383280" cy="320040"/>
          </a:xfrm>
          <a:prstGeom prst="rect">
            <a:avLst/>
          </a:prstGeom>
          <a:noFill/>
          <a:ln/>
        </p:spPr>
        <p:txBody>
          <a:bodyPr wrap="square" rtlCol="0" anchor="ctr"/>
          <a:lstStyle/>
          <a:p>
            <a:pPr marL="0" indent="0">
              <a:buNone/>
            </a:pPr>
            <a:r>
              <a:rPr lang="en-US" sz="1600" b="1" dirty="0">
                <a:solidFill>
                  <a:srgbClr val="2A2E24"/>
                </a:solidFill>
                <a:ea typeface="Cambria" pitchFamily="34" charset="-122"/>
                <a:cs typeface="Cambria" pitchFamily="34" charset="-120"/>
              </a:rPr>
              <a:t>Predict</a:t>
            </a:r>
            <a:endParaRPr lang="en-US" sz="1600" dirty="0"/>
          </a:p>
        </p:txBody>
      </p:sp>
      <p:sp>
        <p:nvSpPr>
          <p:cNvPr id="16" name="Text 14"/>
          <p:cNvSpPr/>
          <p:nvPr/>
        </p:nvSpPr>
        <p:spPr>
          <a:xfrm>
            <a:off x="8884163" y="2965745"/>
            <a:ext cx="3383280" cy="548640"/>
          </a:xfrm>
          <a:prstGeom prst="rect">
            <a:avLst/>
          </a:prstGeom>
          <a:noFill/>
          <a:ln/>
        </p:spPr>
        <p:txBody>
          <a:bodyPr wrap="square" rtlCol="0" anchor="ctr"/>
          <a:lstStyle/>
          <a:p>
            <a:pPr marL="0" indent="0">
              <a:lnSpc>
                <a:spcPct val="105000"/>
              </a:lnSpc>
              <a:buNone/>
            </a:pPr>
            <a:r>
              <a:rPr lang="en-US" sz="1150" dirty="0">
                <a:solidFill>
                  <a:srgbClr val="6B7266"/>
                </a:solidFill>
                <a:ea typeface="Calibri" pitchFamily="34" charset="-122"/>
                <a:cs typeface="Calibri" pitchFamily="34" charset="-120"/>
              </a:rPr>
              <a:t>Build an accurate regression model</a:t>
            </a:r>
            <a:endParaRPr lang="en-US" sz="1150" dirty="0"/>
          </a:p>
        </p:txBody>
      </p:sp>
      <p:sp>
        <p:nvSpPr>
          <p:cNvPr id="17" name="Shape 15"/>
          <p:cNvSpPr/>
          <p:nvPr/>
        </p:nvSpPr>
        <p:spPr>
          <a:xfrm>
            <a:off x="7878323" y="4073951"/>
            <a:ext cx="3730083" cy="697917"/>
          </a:xfrm>
          <a:prstGeom prst="roundRect">
            <a:avLst>
              <a:gd name="adj" fmla="val 6780"/>
            </a:avLst>
          </a:prstGeom>
          <a:solidFill>
            <a:srgbClr val="E7F0DD"/>
          </a:solidFill>
          <a:ln/>
        </p:spPr>
      </p:sp>
      <p:grpSp>
        <p:nvGrpSpPr>
          <p:cNvPr id="33" name="Group 32">
            <a:extLst>
              <a:ext uri="{FF2B5EF4-FFF2-40B4-BE49-F238E27FC236}">
                <a16:creationId xmlns:a16="http://schemas.microsoft.com/office/drawing/2014/main" id="{903C6FEC-3D60-FBFE-DA5C-F248C2614C4D}"/>
              </a:ext>
            </a:extLst>
          </p:cNvPr>
          <p:cNvGrpSpPr/>
          <p:nvPr/>
        </p:nvGrpSpPr>
        <p:grpSpPr>
          <a:xfrm>
            <a:off x="320040" y="1696212"/>
            <a:ext cx="228600" cy="213296"/>
            <a:chOff x="7269480" y="4123944"/>
            <a:chExt cx="640080" cy="640080"/>
          </a:xfrm>
        </p:grpSpPr>
        <p:sp>
          <p:nvSpPr>
            <p:cNvPr id="18" name="Shape 16"/>
            <p:cNvSpPr/>
            <p:nvPr/>
          </p:nvSpPr>
          <p:spPr>
            <a:xfrm>
              <a:off x="7269480" y="4123944"/>
              <a:ext cx="640080" cy="640080"/>
            </a:xfrm>
            <a:prstGeom prst="ellipse">
              <a:avLst/>
            </a:prstGeom>
            <a:solidFill>
              <a:srgbClr val="2C5F2D"/>
            </a:solidFill>
            <a:ln/>
          </p:spPr>
        </p:sp>
        <p:sp>
          <p:nvSpPr>
            <p:cNvPr id="19" name="Text 17"/>
            <p:cNvSpPr/>
            <p:nvPr/>
          </p:nvSpPr>
          <p:spPr>
            <a:xfrm>
              <a:off x="7269480" y="4123944"/>
              <a:ext cx="640080" cy="640080"/>
            </a:xfrm>
            <a:prstGeom prst="rect">
              <a:avLst/>
            </a:prstGeom>
            <a:noFill/>
            <a:ln/>
          </p:spPr>
          <p:txBody>
            <a:bodyPr wrap="square" rtlCol="0" anchor="ctr"/>
            <a:lstStyle/>
            <a:p>
              <a:pPr marL="0" indent="0" algn="ctr">
                <a:buNone/>
              </a:pPr>
              <a:r>
                <a:rPr lang="en-US" sz="1000" dirty="0">
                  <a:solidFill>
                    <a:srgbClr val="000000"/>
                  </a:solidFill>
                </a:rPr>
                <a:t>🌾</a:t>
              </a:r>
              <a:endParaRPr lang="en-US" sz="1000" dirty="0"/>
            </a:p>
          </p:txBody>
        </p:sp>
      </p:grpSp>
      <p:sp>
        <p:nvSpPr>
          <p:cNvPr id="20" name="Text 18"/>
          <p:cNvSpPr/>
          <p:nvPr/>
        </p:nvSpPr>
        <p:spPr>
          <a:xfrm>
            <a:off x="8884163" y="4175685"/>
            <a:ext cx="3383280" cy="320040"/>
          </a:xfrm>
          <a:prstGeom prst="rect">
            <a:avLst/>
          </a:prstGeom>
          <a:noFill/>
          <a:ln/>
        </p:spPr>
        <p:txBody>
          <a:bodyPr wrap="square" rtlCol="0" anchor="ctr"/>
          <a:lstStyle/>
          <a:p>
            <a:pPr marL="0" indent="0">
              <a:buNone/>
            </a:pPr>
            <a:r>
              <a:rPr lang="en-US" sz="1400" b="1" dirty="0">
                <a:solidFill>
                  <a:srgbClr val="2A2E24"/>
                </a:solidFill>
                <a:ea typeface="Cambria" pitchFamily="34" charset="-122"/>
                <a:cs typeface="Cambria" pitchFamily="34" charset="-120"/>
              </a:rPr>
              <a:t>Advise farmers</a:t>
            </a:r>
            <a:endParaRPr lang="en-US" sz="1400" dirty="0"/>
          </a:p>
        </p:txBody>
      </p:sp>
      <p:sp>
        <p:nvSpPr>
          <p:cNvPr id="21" name="Text 19"/>
          <p:cNvSpPr/>
          <p:nvPr/>
        </p:nvSpPr>
        <p:spPr>
          <a:xfrm>
            <a:off x="8884163" y="4283631"/>
            <a:ext cx="3383280" cy="548640"/>
          </a:xfrm>
          <a:prstGeom prst="rect">
            <a:avLst/>
          </a:prstGeom>
          <a:noFill/>
          <a:ln/>
        </p:spPr>
        <p:txBody>
          <a:bodyPr wrap="square" rtlCol="0" anchor="ctr"/>
          <a:lstStyle/>
          <a:p>
            <a:pPr marL="0" indent="0">
              <a:lnSpc>
                <a:spcPct val="105000"/>
              </a:lnSpc>
              <a:buNone/>
            </a:pPr>
            <a:r>
              <a:rPr lang="en-US" sz="1150" dirty="0">
                <a:solidFill>
                  <a:srgbClr val="6B7266"/>
                </a:solidFill>
                <a:ea typeface="Calibri" pitchFamily="34" charset="-122"/>
                <a:cs typeface="Calibri" pitchFamily="34" charset="-120"/>
              </a:rPr>
              <a:t>Turn predictions into input &amp; risk decisions</a:t>
            </a:r>
            <a:endParaRPr lang="en-US" sz="1150" dirty="0"/>
          </a:p>
        </p:txBody>
      </p:sp>
      <p:sp>
        <p:nvSpPr>
          <p:cNvPr id="22" name="Shape 20"/>
          <p:cNvSpPr/>
          <p:nvPr/>
        </p:nvSpPr>
        <p:spPr>
          <a:xfrm>
            <a:off x="7878323" y="5231633"/>
            <a:ext cx="3730083" cy="697917"/>
          </a:xfrm>
          <a:prstGeom prst="roundRect">
            <a:avLst>
              <a:gd name="adj" fmla="val 6780"/>
            </a:avLst>
          </a:prstGeom>
          <a:solidFill>
            <a:srgbClr val="E7F0DD"/>
          </a:solidFill>
          <a:ln/>
        </p:spPr>
      </p:sp>
      <p:sp>
        <p:nvSpPr>
          <p:cNvPr id="23" name="Shape 21"/>
          <p:cNvSpPr/>
          <p:nvPr/>
        </p:nvSpPr>
        <p:spPr>
          <a:xfrm>
            <a:off x="8061203" y="5289471"/>
            <a:ext cx="640080" cy="640080"/>
          </a:xfrm>
          <a:prstGeom prst="ellipse">
            <a:avLst/>
          </a:prstGeom>
          <a:solidFill>
            <a:srgbClr val="2C5F2D"/>
          </a:solidFill>
          <a:ln/>
        </p:spPr>
      </p:sp>
      <p:sp>
        <p:nvSpPr>
          <p:cNvPr id="24" name="Text 22"/>
          <p:cNvSpPr/>
          <p:nvPr/>
        </p:nvSpPr>
        <p:spPr>
          <a:xfrm>
            <a:off x="8061203" y="5289471"/>
            <a:ext cx="64008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8884163" y="5300659"/>
            <a:ext cx="3383280" cy="320040"/>
          </a:xfrm>
          <a:prstGeom prst="rect">
            <a:avLst/>
          </a:prstGeom>
          <a:noFill/>
          <a:ln/>
        </p:spPr>
        <p:txBody>
          <a:bodyPr wrap="square" rtlCol="0" anchor="ctr"/>
          <a:lstStyle/>
          <a:p>
            <a:pPr marL="0" indent="0">
              <a:buNone/>
            </a:pPr>
            <a:r>
              <a:rPr lang="en-US" sz="1400" b="1" dirty="0">
                <a:solidFill>
                  <a:srgbClr val="2A2E24"/>
                </a:solidFill>
                <a:ea typeface="Cambria" pitchFamily="34" charset="-122"/>
                <a:cs typeface="Cambria" pitchFamily="34" charset="-120"/>
              </a:rPr>
              <a:t>Inform policy</a:t>
            </a:r>
            <a:endParaRPr lang="en-US" sz="1400" dirty="0"/>
          </a:p>
        </p:txBody>
      </p:sp>
      <p:sp>
        <p:nvSpPr>
          <p:cNvPr id="26" name="Text 24"/>
          <p:cNvSpPr/>
          <p:nvPr/>
        </p:nvSpPr>
        <p:spPr>
          <a:xfrm>
            <a:off x="8884163" y="5447892"/>
            <a:ext cx="3383280" cy="548640"/>
          </a:xfrm>
          <a:prstGeom prst="rect">
            <a:avLst/>
          </a:prstGeom>
          <a:noFill/>
          <a:ln/>
        </p:spPr>
        <p:txBody>
          <a:bodyPr wrap="square" rtlCol="0" anchor="ctr"/>
          <a:lstStyle/>
          <a:p>
            <a:pPr marL="0" indent="0">
              <a:lnSpc>
                <a:spcPct val="105000"/>
              </a:lnSpc>
              <a:buNone/>
            </a:pPr>
            <a:r>
              <a:rPr lang="en-US" sz="1150" dirty="0">
                <a:solidFill>
                  <a:srgbClr val="6B7266"/>
                </a:solidFill>
                <a:ea typeface="Calibri" pitchFamily="34" charset="-122"/>
                <a:cs typeface="Calibri" pitchFamily="34" charset="-120"/>
              </a:rPr>
              <a:t>Support food-security &amp; planning decisions</a:t>
            </a:r>
            <a:endParaRPr lang="en-US" sz="1150" dirty="0"/>
          </a:p>
        </p:txBody>
      </p:sp>
      <p:sp>
        <p:nvSpPr>
          <p:cNvPr id="27" name="Text 25"/>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ea typeface="Calibri" pitchFamily="34" charset="-122"/>
                <a:cs typeface="Calibri" pitchFamily="34" charset="-120"/>
              </a:rPr>
              <a:t>Crop Yield Prediction  |  Capstone Project</a:t>
            </a:r>
            <a:endParaRPr lang="en-US" sz="1000" dirty="0"/>
          </a:p>
        </p:txBody>
      </p:sp>
      <p:sp>
        <p:nvSpPr>
          <p:cNvPr id="28" name="Text 2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ea typeface="Calibri" pitchFamily="34" charset="-122"/>
                <a:cs typeface="Calibri" pitchFamily="34" charset="-120"/>
              </a:rPr>
              <a:t>2</a:t>
            </a:r>
            <a:endParaRPr lang="en-US" sz="1000" dirty="0"/>
          </a:p>
        </p:txBody>
      </p:sp>
      <p:sp>
        <p:nvSpPr>
          <p:cNvPr id="29" name="Rectangle 28">
            <a:extLst>
              <a:ext uri="{FF2B5EF4-FFF2-40B4-BE49-F238E27FC236}">
                <a16:creationId xmlns:a16="http://schemas.microsoft.com/office/drawing/2014/main" id="{94C5D964-FDC5-9FE1-3AE3-321E033D8495}"/>
              </a:ext>
            </a:extLst>
          </p:cNvPr>
          <p:cNvSpPr/>
          <p:nvPr/>
        </p:nvSpPr>
        <p:spPr>
          <a:xfrm>
            <a:off x="548640" y="374904"/>
            <a:ext cx="3886200" cy="32004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B32B384B-311F-44CE-EA99-5C27A8EC2E8A}"/>
              </a:ext>
            </a:extLst>
          </p:cNvPr>
          <p:cNvSpPr/>
          <p:nvPr/>
        </p:nvSpPr>
        <p:spPr>
          <a:xfrm>
            <a:off x="7706606" y="408136"/>
            <a:ext cx="3886200" cy="32004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F46A880F-B96F-6766-1EB1-0C9B1A2FB2BB}"/>
              </a:ext>
            </a:extLst>
          </p:cNvPr>
          <p:cNvGrpSpPr/>
          <p:nvPr/>
        </p:nvGrpSpPr>
        <p:grpSpPr>
          <a:xfrm>
            <a:off x="320040" y="2783390"/>
            <a:ext cx="228600" cy="213296"/>
            <a:chOff x="7269480" y="4123944"/>
            <a:chExt cx="640080" cy="640080"/>
          </a:xfrm>
        </p:grpSpPr>
        <p:sp>
          <p:nvSpPr>
            <p:cNvPr id="36" name="Shape 16">
              <a:extLst>
                <a:ext uri="{FF2B5EF4-FFF2-40B4-BE49-F238E27FC236}">
                  <a16:creationId xmlns:a16="http://schemas.microsoft.com/office/drawing/2014/main" id="{422C0F9E-9554-4D99-D370-C4B926C60693}"/>
                </a:ext>
              </a:extLst>
            </p:cNvPr>
            <p:cNvSpPr/>
            <p:nvPr/>
          </p:nvSpPr>
          <p:spPr>
            <a:xfrm>
              <a:off x="7269480" y="4123944"/>
              <a:ext cx="640080" cy="640080"/>
            </a:xfrm>
            <a:prstGeom prst="ellipse">
              <a:avLst/>
            </a:prstGeom>
            <a:solidFill>
              <a:srgbClr val="2C5F2D"/>
            </a:solidFill>
            <a:ln/>
          </p:spPr>
        </p:sp>
        <p:sp>
          <p:nvSpPr>
            <p:cNvPr id="37" name="Text 17">
              <a:extLst>
                <a:ext uri="{FF2B5EF4-FFF2-40B4-BE49-F238E27FC236}">
                  <a16:creationId xmlns:a16="http://schemas.microsoft.com/office/drawing/2014/main" id="{1E76F4A9-2EE1-03D2-DBA2-84062D3C9161}"/>
                </a:ext>
              </a:extLst>
            </p:cNvPr>
            <p:cNvSpPr/>
            <p:nvPr/>
          </p:nvSpPr>
          <p:spPr>
            <a:xfrm>
              <a:off x="7269480" y="4123944"/>
              <a:ext cx="640080" cy="640080"/>
            </a:xfrm>
            <a:prstGeom prst="rect">
              <a:avLst/>
            </a:prstGeom>
            <a:noFill/>
            <a:ln/>
          </p:spPr>
          <p:txBody>
            <a:bodyPr wrap="square" rtlCol="0" anchor="ctr"/>
            <a:lstStyle/>
            <a:p>
              <a:pPr marL="0" indent="0" algn="ctr">
                <a:buNone/>
              </a:pPr>
              <a:r>
                <a:rPr lang="en-US" sz="1000" dirty="0">
                  <a:solidFill>
                    <a:srgbClr val="000000"/>
                  </a:solidFill>
                </a:rPr>
                <a:t>🌾</a:t>
              </a:r>
              <a:endParaRPr lang="en-US" sz="1000" dirty="0"/>
            </a:p>
          </p:txBody>
        </p:sp>
      </p:grpSp>
      <p:grpSp>
        <p:nvGrpSpPr>
          <p:cNvPr id="38" name="Group 37">
            <a:extLst>
              <a:ext uri="{FF2B5EF4-FFF2-40B4-BE49-F238E27FC236}">
                <a16:creationId xmlns:a16="http://schemas.microsoft.com/office/drawing/2014/main" id="{5CB1F183-B352-FC40-363E-8672CC929E09}"/>
              </a:ext>
            </a:extLst>
          </p:cNvPr>
          <p:cNvGrpSpPr/>
          <p:nvPr/>
        </p:nvGrpSpPr>
        <p:grpSpPr>
          <a:xfrm>
            <a:off x="320040" y="4778788"/>
            <a:ext cx="228600" cy="213296"/>
            <a:chOff x="7269480" y="4123944"/>
            <a:chExt cx="640080" cy="640080"/>
          </a:xfrm>
        </p:grpSpPr>
        <p:sp>
          <p:nvSpPr>
            <p:cNvPr id="39" name="Shape 16">
              <a:extLst>
                <a:ext uri="{FF2B5EF4-FFF2-40B4-BE49-F238E27FC236}">
                  <a16:creationId xmlns:a16="http://schemas.microsoft.com/office/drawing/2014/main" id="{4B1BE2C3-5AB1-3B28-C5AA-2AE0D7788001}"/>
                </a:ext>
              </a:extLst>
            </p:cNvPr>
            <p:cNvSpPr/>
            <p:nvPr/>
          </p:nvSpPr>
          <p:spPr>
            <a:xfrm>
              <a:off x="7269480" y="4123944"/>
              <a:ext cx="640080" cy="640080"/>
            </a:xfrm>
            <a:prstGeom prst="ellipse">
              <a:avLst/>
            </a:prstGeom>
            <a:solidFill>
              <a:srgbClr val="2C5F2D"/>
            </a:solidFill>
            <a:ln/>
          </p:spPr>
        </p:sp>
        <p:sp>
          <p:nvSpPr>
            <p:cNvPr id="40" name="Text 17">
              <a:extLst>
                <a:ext uri="{FF2B5EF4-FFF2-40B4-BE49-F238E27FC236}">
                  <a16:creationId xmlns:a16="http://schemas.microsoft.com/office/drawing/2014/main" id="{30BD7A72-5943-0A32-8FE3-43DB16801E6B}"/>
                </a:ext>
              </a:extLst>
            </p:cNvPr>
            <p:cNvSpPr/>
            <p:nvPr/>
          </p:nvSpPr>
          <p:spPr>
            <a:xfrm>
              <a:off x="7269480" y="4123944"/>
              <a:ext cx="640080" cy="640080"/>
            </a:xfrm>
            <a:prstGeom prst="rect">
              <a:avLst/>
            </a:prstGeom>
            <a:noFill/>
            <a:ln/>
          </p:spPr>
          <p:txBody>
            <a:bodyPr wrap="square" rtlCol="0" anchor="ctr"/>
            <a:lstStyle/>
            <a:p>
              <a:pPr marL="0" indent="0" algn="ctr">
                <a:buNone/>
              </a:pPr>
              <a:r>
                <a:rPr lang="en-US" sz="1000" dirty="0">
                  <a:solidFill>
                    <a:srgbClr val="000000"/>
                  </a:solidFill>
                </a:rPr>
                <a:t>🌾</a:t>
              </a:r>
              <a:endParaRPr lang="en-US" sz="1000" dirty="0"/>
            </a:p>
          </p:txBody>
        </p:sp>
      </p:grpSp>
      <p:grpSp>
        <p:nvGrpSpPr>
          <p:cNvPr id="42" name="Group 41">
            <a:extLst>
              <a:ext uri="{FF2B5EF4-FFF2-40B4-BE49-F238E27FC236}">
                <a16:creationId xmlns:a16="http://schemas.microsoft.com/office/drawing/2014/main" id="{A982FA43-A53F-E6E7-FFA4-60AB3F1BEA4B}"/>
              </a:ext>
            </a:extLst>
          </p:cNvPr>
          <p:cNvGrpSpPr/>
          <p:nvPr/>
        </p:nvGrpSpPr>
        <p:grpSpPr>
          <a:xfrm>
            <a:off x="8089143" y="4158694"/>
            <a:ext cx="563880" cy="510003"/>
            <a:chOff x="7269480" y="4123944"/>
            <a:chExt cx="640080" cy="640080"/>
          </a:xfrm>
        </p:grpSpPr>
        <p:sp>
          <p:nvSpPr>
            <p:cNvPr id="43" name="Shape 16">
              <a:extLst>
                <a:ext uri="{FF2B5EF4-FFF2-40B4-BE49-F238E27FC236}">
                  <a16:creationId xmlns:a16="http://schemas.microsoft.com/office/drawing/2014/main" id="{AC52AD30-0D26-C364-E402-3957A01459EC}"/>
                </a:ext>
              </a:extLst>
            </p:cNvPr>
            <p:cNvSpPr/>
            <p:nvPr/>
          </p:nvSpPr>
          <p:spPr>
            <a:xfrm>
              <a:off x="7269480" y="4123944"/>
              <a:ext cx="640080" cy="640080"/>
            </a:xfrm>
            <a:prstGeom prst="ellipse">
              <a:avLst/>
            </a:prstGeom>
            <a:solidFill>
              <a:srgbClr val="2C5F2D"/>
            </a:solidFill>
            <a:ln/>
          </p:spPr>
        </p:sp>
        <p:sp>
          <p:nvSpPr>
            <p:cNvPr id="44" name="Text 17">
              <a:extLst>
                <a:ext uri="{FF2B5EF4-FFF2-40B4-BE49-F238E27FC236}">
                  <a16:creationId xmlns:a16="http://schemas.microsoft.com/office/drawing/2014/main" id="{C82E33BA-5300-4676-AE21-7EFFE059FFC1}"/>
                </a:ext>
              </a:extLst>
            </p:cNvPr>
            <p:cNvSpPr/>
            <p:nvPr/>
          </p:nvSpPr>
          <p:spPr>
            <a:xfrm>
              <a:off x="7269480" y="4123944"/>
              <a:ext cx="640080" cy="640080"/>
            </a:xfrm>
            <a:prstGeom prst="rect">
              <a:avLst/>
            </a:prstGeom>
            <a:noFill/>
            <a:ln/>
          </p:spPr>
          <p:txBody>
            <a:bodyPr wrap="square" rtlCol="0" anchor="ctr"/>
            <a:lstStyle/>
            <a:p>
              <a:pPr marL="0" indent="0" algn="ctr">
                <a:buNone/>
              </a:pPr>
              <a:r>
                <a:rPr lang="en-US" dirty="0">
                  <a:solidFill>
                    <a:srgbClr val="000000"/>
                  </a:solidFill>
                </a:rPr>
                <a:t>🌾</a:t>
              </a:r>
              <a:endParaRPr lang="en-US" dirty="0"/>
            </a:p>
          </p:txBody>
        </p:sp>
      </p:grpSp>
      <p:sp>
        <p:nvSpPr>
          <p:cNvPr id="48" name="Shape 11">
            <a:extLst>
              <a:ext uri="{FF2B5EF4-FFF2-40B4-BE49-F238E27FC236}">
                <a16:creationId xmlns:a16="http://schemas.microsoft.com/office/drawing/2014/main" id="{46CD6AE9-F3EB-EFA0-9091-FB4CCD951FC3}"/>
              </a:ext>
            </a:extLst>
          </p:cNvPr>
          <p:cNvSpPr/>
          <p:nvPr/>
        </p:nvSpPr>
        <p:spPr>
          <a:xfrm>
            <a:off x="6035040" y="6097534"/>
            <a:ext cx="640080" cy="640080"/>
          </a:xfrm>
          <a:prstGeom prst="ellipse">
            <a:avLst/>
          </a:prstGeom>
          <a:solidFill>
            <a:srgbClr val="2C5F2D"/>
          </a:solidFill>
          <a:ln/>
        </p:spPr>
        <p:txBody>
          <a:bodyPr/>
          <a:lstStyle/>
          <a:p>
            <a:pPr algn="ctr"/>
            <a:r>
              <a:rPr lang="en-GB" sz="2800" b="1" dirty="0">
                <a:solidFill>
                  <a:schemeClr val="bg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97" name="Shape 2">
            <a:extLst>
              <a:ext uri="{FF2B5EF4-FFF2-40B4-BE49-F238E27FC236}">
                <a16:creationId xmlns:a16="http://schemas.microsoft.com/office/drawing/2014/main" id="{C07535CF-9F8E-5F4C-169D-47FDA1D2BE0C}"/>
              </a:ext>
            </a:extLst>
          </p:cNvPr>
          <p:cNvSpPr/>
          <p:nvPr/>
        </p:nvSpPr>
        <p:spPr>
          <a:xfrm>
            <a:off x="298703" y="4572668"/>
            <a:ext cx="12034545" cy="449728"/>
          </a:xfrm>
          <a:prstGeom prst="roundRect">
            <a:avLst>
              <a:gd name="adj" fmla="val 9184"/>
            </a:avLst>
          </a:prstGeom>
          <a:solidFill>
            <a:srgbClr val="E7F0DD"/>
          </a:solidFill>
          <a:ln/>
        </p:spPr>
        <p:txBody>
          <a:bodyPr/>
          <a:lstStyle/>
          <a:p>
            <a:endParaRPr lang="en-GB" dirty="0"/>
          </a:p>
        </p:txBody>
      </p:sp>
      <p:sp>
        <p:nvSpPr>
          <p:cNvPr id="56" name="Text 0">
            <a:extLst>
              <a:ext uri="{FF2B5EF4-FFF2-40B4-BE49-F238E27FC236}">
                <a16:creationId xmlns:a16="http://schemas.microsoft.com/office/drawing/2014/main" id="{8B70950A-B472-56FB-CAA2-CB6FB3637800}"/>
              </a:ext>
            </a:extLst>
          </p:cNvPr>
          <p:cNvSpPr/>
          <p:nvPr/>
        </p:nvSpPr>
        <p:spPr>
          <a:xfrm>
            <a:off x="298704" y="269748"/>
            <a:ext cx="731520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150" dirty="0">
                <a:solidFill>
                  <a:srgbClr val="C68A2E"/>
                </a:solidFill>
                <a:ea typeface="Calibri" pitchFamily="34" charset="-122"/>
                <a:cs typeface="Calibri" pitchFamily="34" charset="-120"/>
              </a:rPr>
              <a:t>DATA UNDERSTANDING</a:t>
            </a:r>
            <a:endParaRPr lang="en-US" sz="1200" dirty="0"/>
          </a:p>
        </p:txBody>
      </p:sp>
      <p:sp>
        <p:nvSpPr>
          <p:cNvPr id="57" name="Text 1">
            <a:extLst>
              <a:ext uri="{FF2B5EF4-FFF2-40B4-BE49-F238E27FC236}">
                <a16:creationId xmlns:a16="http://schemas.microsoft.com/office/drawing/2014/main" id="{CB568D7E-06C2-7E8A-EBDE-6ABBDFA42D82}"/>
              </a:ext>
            </a:extLst>
          </p:cNvPr>
          <p:cNvSpPr/>
          <p:nvPr/>
        </p:nvSpPr>
        <p:spPr>
          <a:xfrm>
            <a:off x="472440" y="342900"/>
            <a:ext cx="11064240"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dirty="0">
                <a:solidFill>
                  <a:schemeClr val="accent6">
                    <a:lumMod val="50000"/>
                  </a:schemeClr>
                </a:solidFill>
                <a:ea typeface="Cambria" pitchFamily="34" charset="-122"/>
                <a:cs typeface="Cambria" pitchFamily="34" charset="-120"/>
              </a:rPr>
              <a:t>Dataset Overview &amp; Approach</a:t>
            </a:r>
            <a:endParaRPr lang="en-US" sz="3200" b="1" dirty="0">
              <a:solidFill>
                <a:schemeClr val="accent6">
                  <a:lumMod val="50000"/>
                </a:schemeClr>
              </a:solidFill>
            </a:endParaRPr>
          </a:p>
        </p:txBody>
      </p:sp>
      <p:sp>
        <p:nvSpPr>
          <p:cNvPr id="58" name="Shape 2">
            <a:extLst>
              <a:ext uri="{FF2B5EF4-FFF2-40B4-BE49-F238E27FC236}">
                <a16:creationId xmlns:a16="http://schemas.microsoft.com/office/drawing/2014/main" id="{2D2486D1-5B29-39F7-C248-4C3892C251C4}"/>
              </a:ext>
            </a:extLst>
          </p:cNvPr>
          <p:cNvSpPr/>
          <p:nvPr/>
        </p:nvSpPr>
        <p:spPr>
          <a:xfrm>
            <a:off x="390144" y="1482776"/>
            <a:ext cx="5394960" cy="822959"/>
          </a:xfrm>
          <a:prstGeom prst="roundRect">
            <a:avLst>
              <a:gd name="adj" fmla="val 9184"/>
            </a:avLst>
          </a:prstGeom>
          <a:solidFill>
            <a:srgbClr val="E7F0DD"/>
          </a:solidFill>
          <a:ln/>
        </p:spPr>
        <p:txBody>
          <a:bodyPr/>
          <a:lstStyle/>
          <a:p>
            <a:endParaRPr lang="en-GB"/>
          </a:p>
        </p:txBody>
      </p:sp>
      <p:sp>
        <p:nvSpPr>
          <p:cNvPr id="59" name="Shape 3">
            <a:extLst>
              <a:ext uri="{FF2B5EF4-FFF2-40B4-BE49-F238E27FC236}">
                <a16:creationId xmlns:a16="http://schemas.microsoft.com/office/drawing/2014/main" id="{1989D74E-8894-B709-FFB8-258E53DF8667}"/>
              </a:ext>
            </a:extLst>
          </p:cNvPr>
          <p:cNvSpPr/>
          <p:nvPr/>
        </p:nvSpPr>
        <p:spPr>
          <a:xfrm>
            <a:off x="591312" y="1597077"/>
            <a:ext cx="457200" cy="457200"/>
          </a:xfrm>
          <a:prstGeom prst="ellipse">
            <a:avLst/>
          </a:prstGeom>
          <a:solidFill>
            <a:srgbClr val="2C5F2D"/>
          </a:solidFill>
          <a:ln/>
        </p:spPr>
        <p:txBody>
          <a:bodyPr/>
          <a:lstStyle/>
          <a:p>
            <a:endParaRPr lang="en-GB"/>
          </a:p>
        </p:txBody>
      </p:sp>
      <p:sp>
        <p:nvSpPr>
          <p:cNvPr id="60" name="Text 4">
            <a:extLst>
              <a:ext uri="{FF2B5EF4-FFF2-40B4-BE49-F238E27FC236}">
                <a16:creationId xmlns:a16="http://schemas.microsoft.com/office/drawing/2014/main" id="{B6B974A2-9661-2AEF-5B9D-B957923AB961}"/>
              </a:ext>
            </a:extLst>
          </p:cNvPr>
          <p:cNvSpPr/>
          <p:nvPr/>
        </p:nvSpPr>
        <p:spPr>
          <a:xfrm>
            <a:off x="591312" y="1597077"/>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000000"/>
                </a:solidFill>
              </a:rPr>
              <a:t>🗂</a:t>
            </a:r>
            <a:endParaRPr lang="en-US" sz="1600" dirty="0"/>
          </a:p>
        </p:txBody>
      </p:sp>
      <p:sp>
        <p:nvSpPr>
          <p:cNvPr id="61" name="Text 5">
            <a:extLst>
              <a:ext uri="{FF2B5EF4-FFF2-40B4-BE49-F238E27FC236}">
                <a16:creationId xmlns:a16="http://schemas.microsoft.com/office/drawing/2014/main" id="{0F2AA0F8-1EA7-CC99-A7D3-7CC221E9755F}"/>
              </a:ext>
            </a:extLst>
          </p:cNvPr>
          <p:cNvSpPr/>
          <p:nvPr/>
        </p:nvSpPr>
        <p:spPr>
          <a:xfrm>
            <a:off x="1004428" y="1597077"/>
            <a:ext cx="43891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kern="0" spc="100" dirty="0">
                <a:solidFill>
                  <a:srgbClr val="C68A2E"/>
                </a:solidFill>
                <a:ea typeface="Calibri" pitchFamily="34" charset="-122"/>
                <a:cs typeface="Calibri" pitchFamily="34" charset="-120"/>
              </a:rPr>
              <a:t>DATA SOURCE</a:t>
            </a:r>
            <a:endParaRPr lang="en-US" sz="1400" b="1" dirty="0"/>
          </a:p>
        </p:txBody>
      </p:sp>
      <p:sp>
        <p:nvSpPr>
          <p:cNvPr id="62" name="Text 6">
            <a:extLst>
              <a:ext uri="{FF2B5EF4-FFF2-40B4-BE49-F238E27FC236}">
                <a16:creationId xmlns:a16="http://schemas.microsoft.com/office/drawing/2014/main" id="{BF9CE5A6-DD63-C331-13BB-C3552451DC10}"/>
              </a:ext>
            </a:extLst>
          </p:cNvPr>
          <p:cNvSpPr/>
          <p:nvPr/>
        </p:nvSpPr>
        <p:spPr>
          <a:xfrm>
            <a:off x="1004428" y="1706080"/>
            <a:ext cx="48006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600" b="1" dirty="0">
                <a:solidFill>
                  <a:srgbClr val="2A2E24"/>
                </a:solidFill>
                <a:ea typeface="Calibri" pitchFamily="34" charset="-122"/>
                <a:cs typeface="Calibri" pitchFamily="34" charset="-120"/>
              </a:rPr>
              <a:t>Kaggle — Crop Yield Prediction Dataset (yield_df.csv)</a:t>
            </a:r>
            <a:endParaRPr lang="en-US" sz="1600" b="1" dirty="0"/>
          </a:p>
        </p:txBody>
      </p:sp>
      <p:sp>
        <p:nvSpPr>
          <p:cNvPr id="63" name="Shape 7">
            <a:extLst>
              <a:ext uri="{FF2B5EF4-FFF2-40B4-BE49-F238E27FC236}">
                <a16:creationId xmlns:a16="http://schemas.microsoft.com/office/drawing/2014/main" id="{FC83840A-6D99-383A-C4A0-95E7D9FCD751}"/>
              </a:ext>
            </a:extLst>
          </p:cNvPr>
          <p:cNvSpPr/>
          <p:nvPr/>
        </p:nvSpPr>
        <p:spPr>
          <a:xfrm>
            <a:off x="6352032" y="1472184"/>
            <a:ext cx="5394960" cy="822960"/>
          </a:xfrm>
          <a:prstGeom prst="roundRect">
            <a:avLst>
              <a:gd name="adj" fmla="val 9184"/>
            </a:avLst>
          </a:prstGeom>
          <a:solidFill>
            <a:srgbClr val="2C5F2D"/>
          </a:solidFill>
          <a:ln/>
        </p:spPr>
        <p:txBody>
          <a:bodyPr/>
          <a:lstStyle/>
          <a:p>
            <a:endParaRPr lang="en-GB"/>
          </a:p>
        </p:txBody>
      </p:sp>
      <p:sp>
        <p:nvSpPr>
          <p:cNvPr id="64" name="Shape 8">
            <a:extLst>
              <a:ext uri="{FF2B5EF4-FFF2-40B4-BE49-F238E27FC236}">
                <a16:creationId xmlns:a16="http://schemas.microsoft.com/office/drawing/2014/main" id="{CE6D114D-E6A4-A334-9E30-57D6CC326E84}"/>
              </a:ext>
            </a:extLst>
          </p:cNvPr>
          <p:cNvSpPr/>
          <p:nvPr/>
        </p:nvSpPr>
        <p:spPr>
          <a:xfrm>
            <a:off x="6425184" y="1652275"/>
            <a:ext cx="457200" cy="457200"/>
          </a:xfrm>
          <a:prstGeom prst="ellipse">
            <a:avLst/>
          </a:prstGeom>
          <a:solidFill>
            <a:srgbClr val="C68A2E"/>
          </a:solidFill>
          <a:ln/>
        </p:spPr>
        <p:txBody>
          <a:bodyPr/>
          <a:lstStyle/>
          <a:p>
            <a:endParaRPr lang="en-GB"/>
          </a:p>
        </p:txBody>
      </p:sp>
      <p:sp>
        <p:nvSpPr>
          <p:cNvPr id="65" name="Text 9">
            <a:extLst>
              <a:ext uri="{FF2B5EF4-FFF2-40B4-BE49-F238E27FC236}">
                <a16:creationId xmlns:a16="http://schemas.microsoft.com/office/drawing/2014/main" id="{5ACCD402-6877-776D-4D7F-C54EC1EEA38F}"/>
              </a:ext>
            </a:extLst>
          </p:cNvPr>
          <p:cNvSpPr/>
          <p:nvPr/>
        </p:nvSpPr>
        <p:spPr>
          <a:xfrm>
            <a:off x="6425184" y="1675135"/>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1B3A1E"/>
                </a:solidFill>
              </a:rPr>
              <a:t>↻</a:t>
            </a:r>
            <a:endParaRPr lang="en-US" sz="1800" dirty="0"/>
          </a:p>
        </p:txBody>
      </p:sp>
      <p:sp>
        <p:nvSpPr>
          <p:cNvPr id="66" name="Text 10">
            <a:extLst>
              <a:ext uri="{FF2B5EF4-FFF2-40B4-BE49-F238E27FC236}">
                <a16:creationId xmlns:a16="http://schemas.microsoft.com/office/drawing/2014/main" id="{266286D0-64BB-C589-2750-CFEA35BD5C6B}"/>
              </a:ext>
            </a:extLst>
          </p:cNvPr>
          <p:cNvSpPr/>
          <p:nvPr/>
        </p:nvSpPr>
        <p:spPr>
          <a:xfrm>
            <a:off x="6882384" y="1472184"/>
            <a:ext cx="438912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100" dirty="0">
                <a:solidFill>
                  <a:schemeClr val="accent2"/>
                </a:solidFill>
                <a:ea typeface="Calibri" pitchFamily="34" charset="-122"/>
                <a:cs typeface="Calibri" pitchFamily="34" charset="-120"/>
              </a:rPr>
              <a:t>APPROACH</a:t>
            </a:r>
            <a:endParaRPr lang="en-US" sz="1200" b="1" dirty="0">
              <a:solidFill>
                <a:schemeClr val="accent2"/>
              </a:solidFill>
            </a:endParaRPr>
          </a:p>
        </p:txBody>
      </p:sp>
      <p:sp>
        <p:nvSpPr>
          <p:cNvPr id="67" name="Text 11">
            <a:extLst>
              <a:ext uri="{FF2B5EF4-FFF2-40B4-BE49-F238E27FC236}">
                <a16:creationId xmlns:a16="http://schemas.microsoft.com/office/drawing/2014/main" id="{0F43A187-893B-54EC-5BBB-CBF425BDBC3B}"/>
              </a:ext>
            </a:extLst>
          </p:cNvPr>
          <p:cNvSpPr/>
          <p:nvPr/>
        </p:nvSpPr>
        <p:spPr>
          <a:xfrm>
            <a:off x="6882384" y="1755573"/>
            <a:ext cx="493776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FFFFFF"/>
                </a:solidFill>
                <a:ea typeface="Calibri" pitchFamily="34" charset="-122"/>
                <a:cs typeface="Calibri" pitchFamily="34" charset="-120"/>
              </a:rPr>
              <a:t>EDA  →  Regression Modelling  →  Feature Interpretation →  Decision Support</a:t>
            </a:r>
            <a:endParaRPr lang="en-US" sz="1600" b="1" dirty="0"/>
          </a:p>
        </p:txBody>
      </p:sp>
      <p:sp>
        <p:nvSpPr>
          <p:cNvPr id="68" name="Shape 12">
            <a:extLst>
              <a:ext uri="{FF2B5EF4-FFF2-40B4-BE49-F238E27FC236}">
                <a16:creationId xmlns:a16="http://schemas.microsoft.com/office/drawing/2014/main" id="{C3627BFF-E9BB-7453-2A2C-EED40E00304B}"/>
              </a:ext>
            </a:extLst>
          </p:cNvPr>
          <p:cNvSpPr/>
          <p:nvPr/>
        </p:nvSpPr>
        <p:spPr>
          <a:xfrm>
            <a:off x="390144" y="3091785"/>
            <a:ext cx="1810512" cy="874256"/>
          </a:xfrm>
          <a:prstGeom prst="roundRect">
            <a:avLst>
              <a:gd name="adj" fmla="val 6000"/>
            </a:avLst>
          </a:prstGeom>
          <a:solidFill>
            <a:srgbClr val="2C5F2D"/>
          </a:solidFill>
          <a:ln/>
        </p:spPr>
        <p:txBody>
          <a:bodyPr/>
          <a:lstStyle/>
          <a:p>
            <a:endParaRPr lang="en-GB"/>
          </a:p>
        </p:txBody>
      </p:sp>
      <p:sp>
        <p:nvSpPr>
          <p:cNvPr id="69" name="Text 13">
            <a:extLst>
              <a:ext uri="{FF2B5EF4-FFF2-40B4-BE49-F238E27FC236}">
                <a16:creationId xmlns:a16="http://schemas.microsoft.com/office/drawing/2014/main" id="{4C7DD3B1-43A9-2925-CF1C-29F488B3066B}"/>
              </a:ext>
            </a:extLst>
          </p:cNvPr>
          <p:cNvSpPr/>
          <p:nvPr/>
        </p:nvSpPr>
        <p:spPr>
          <a:xfrm>
            <a:off x="390144"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28,242</a:t>
            </a:r>
            <a:endParaRPr lang="en-US" sz="2800" dirty="0"/>
          </a:p>
        </p:txBody>
      </p:sp>
      <p:sp>
        <p:nvSpPr>
          <p:cNvPr id="70" name="Text 14">
            <a:extLst>
              <a:ext uri="{FF2B5EF4-FFF2-40B4-BE49-F238E27FC236}">
                <a16:creationId xmlns:a16="http://schemas.microsoft.com/office/drawing/2014/main" id="{7977E2FA-2AAB-4296-D445-018F682AB162}"/>
              </a:ext>
            </a:extLst>
          </p:cNvPr>
          <p:cNvSpPr/>
          <p:nvPr/>
        </p:nvSpPr>
        <p:spPr>
          <a:xfrm>
            <a:off x="463296"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raw records</a:t>
            </a:r>
            <a:endParaRPr lang="en-US" b="1" dirty="0"/>
          </a:p>
        </p:txBody>
      </p:sp>
      <p:sp>
        <p:nvSpPr>
          <p:cNvPr id="71" name="Shape 15">
            <a:extLst>
              <a:ext uri="{FF2B5EF4-FFF2-40B4-BE49-F238E27FC236}">
                <a16:creationId xmlns:a16="http://schemas.microsoft.com/office/drawing/2014/main" id="{70A2F824-C631-D2BB-EBB3-053CA798FEC1}"/>
              </a:ext>
            </a:extLst>
          </p:cNvPr>
          <p:cNvSpPr/>
          <p:nvPr/>
        </p:nvSpPr>
        <p:spPr>
          <a:xfrm>
            <a:off x="2328672" y="3091785"/>
            <a:ext cx="1810512" cy="874256"/>
          </a:xfrm>
          <a:prstGeom prst="roundRect">
            <a:avLst>
              <a:gd name="adj" fmla="val 6000"/>
            </a:avLst>
          </a:prstGeom>
          <a:solidFill>
            <a:srgbClr val="6E9B4A"/>
          </a:solidFill>
          <a:ln/>
        </p:spPr>
        <p:txBody>
          <a:bodyPr/>
          <a:lstStyle/>
          <a:p>
            <a:endParaRPr lang="en-GB"/>
          </a:p>
        </p:txBody>
      </p:sp>
      <p:sp>
        <p:nvSpPr>
          <p:cNvPr id="72" name="Text 16">
            <a:extLst>
              <a:ext uri="{FF2B5EF4-FFF2-40B4-BE49-F238E27FC236}">
                <a16:creationId xmlns:a16="http://schemas.microsoft.com/office/drawing/2014/main" id="{D8E65805-5D42-874E-EF51-3E1FF4D54285}"/>
              </a:ext>
            </a:extLst>
          </p:cNvPr>
          <p:cNvSpPr/>
          <p:nvPr/>
        </p:nvSpPr>
        <p:spPr>
          <a:xfrm>
            <a:off x="2328672"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101</a:t>
            </a:r>
            <a:endParaRPr lang="en-US" sz="2800" dirty="0"/>
          </a:p>
        </p:txBody>
      </p:sp>
      <p:sp>
        <p:nvSpPr>
          <p:cNvPr id="73" name="Text 17">
            <a:extLst>
              <a:ext uri="{FF2B5EF4-FFF2-40B4-BE49-F238E27FC236}">
                <a16:creationId xmlns:a16="http://schemas.microsoft.com/office/drawing/2014/main" id="{5A37923D-50D1-575C-F4E6-217A1DC342AC}"/>
              </a:ext>
            </a:extLst>
          </p:cNvPr>
          <p:cNvSpPr/>
          <p:nvPr/>
        </p:nvSpPr>
        <p:spPr>
          <a:xfrm>
            <a:off x="2401824"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countries</a:t>
            </a:r>
            <a:endParaRPr lang="en-US" b="1" dirty="0"/>
          </a:p>
        </p:txBody>
      </p:sp>
      <p:sp>
        <p:nvSpPr>
          <p:cNvPr id="74" name="Shape 18">
            <a:extLst>
              <a:ext uri="{FF2B5EF4-FFF2-40B4-BE49-F238E27FC236}">
                <a16:creationId xmlns:a16="http://schemas.microsoft.com/office/drawing/2014/main" id="{205B4B4A-DE98-ACC5-D03B-181DD4DB7C80}"/>
              </a:ext>
            </a:extLst>
          </p:cNvPr>
          <p:cNvSpPr/>
          <p:nvPr/>
        </p:nvSpPr>
        <p:spPr>
          <a:xfrm>
            <a:off x="4267200" y="3091785"/>
            <a:ext cx="1810512" cy="874256"/>
          </a:xfrm>
          <a:prstGeom prst="roundRect">
            <a:avLst>
              <a:gd name="adj" fmla="val 6000"/>
            </a:avLst>
          </a:prstGeom>
          <a:solidFill>
            <a:srgbClr val="2C5F2D"/>
          </a:solidFill>
          <a:ln/>
        </p:spPr>
        <p:txBody>
          <a:bodyPr/>
          <a:lstStyle/>
          <a:p>
            <a:endParaRPr lang="en-GB"/>
          </a:p>
        </p:txBody>
      </p:sp>
      <p:sp>
        <p:nvSpPr>
          <p:cNvPr id="75" name="Text 19">
            <a:extLst>
              <a:ext uri="{FF2B5EF4-FFF2-40B4-BE49-F238E27FC236}">
                <a16:creationId xmlns:a16="http://schemas.microsoft.com/office/drawing/2014/main" id="{A5694580-BE00-4692-B353-2A38C54E8B4E}"/>
              </a:ext>
            </a:extLst>
          </p:cNvPr>
          <p:cNvSpPr/>
          <p:nvPr/>
        </p:nvSpPr>
        <p:spPr>
          <a:xfrm>
            <a:off x="4267200"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10</a:t>
            </a:r>
            <a:endParaRPr lang="en-US" sz="2800" dirty="0"/>
          </a:p>
        </p:txBody>
      </p:sp>
      <p:sp>
        <p:nvSpPr>
          <p:cNvPr id="76" name="Text 20">
            <a:extLst>
              <a:ext uri="{FF2B5EF4-FFF2-40B4-BE49-F238E27FC236}">
                <a16:creationId xmlns:a16="http://schemas.microsoft.com/office/drawing/2014/main" id="{518190A2-78C0-E2E0-BFD4-EDB07D72651C}"/>
              </a:ext>
            </a:extLst>
          </p:cNvPr>
          <p:cNvSpPr/>
          <p:nvPr/>
        </p:nvSpPr>
        <p:spPr>
          <a:xfrm>
            <a:off x="4340352"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crop types</a:t>
            </a:r>
            <a:endParaRPr lang="en-US" b="1" dirty="0"/>
          </a:p>
        </p:txBody>
      </p:sp>
      <p:sp>
        <p:nvSpPr>
          <p:cNvPr id="77" name="Shape 21">
            <a:extLst>
              <a:ext uri="{FF2B5EF4-FFF2-40B4-BE49-F238E27FC236}">
                <a16:creationId xmlns:a16="http://schemas.microsoft.com/office/drawing/2014/main" id="{FF3D4E8A-DD95-7A27-E476-5021BB1C7A85}"/>
              </a:ext>
            </a:extLst>
          </p:cNvPr>
          <p:cNvSpPr/>
          <p:nvPr/>
        </p:nvSpPr>
        <p:spPr>
          <a:xfrm>
            <a:off x="6205728" y="3091785"/>
            <a:ext cx="1810512" cy="874256"/>
          </a:xfrm>
          <a:prstGeom prst="roundRect">
            <a:avLst>
              <a:gd name="adj" fmla="val 6000"/>
            </a:avLst>
          </a:prstGeom>
          <a:solidFill>
            <a:srgbClr val="6E9B4A"/>
          </a:solidFill>
          <a:ln/>
        </p:spPr>
        <p:txBody>
          <a:bodyPr/>
          <a:lstStyle/>
          <a:p>
            <a:endParaRPr lang="en-GB"/>
          </a:p>
        </p:txBody>
      </p:sp>
      <p:sp>
        <p:nvSpPr>
          <p:cNvPr id="78" name="Text 22">
            <a:extLst>
              <a:ext uri="{FF2B5EF4-FFF2-40B4-BE49-F238E27FC236}">
                <a16:creationId xmlns:a16="http://schemas.microsoft.com/office/drawing/2014/main" id="{CF1D1B54-F19D-F8A8-1459-6F625F354E6D}"/>
              </a:ext>
            </a:extLst>
          </p:cNvPr>
          <p:cNvSpPr/>
          <p:nvPr/>
        </p:nvSpPr>
        <p:spPr>
          <a:xfrm>
            <a:off x="6205728"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23</a:t>
            </a:r>
            <a:endParaRPr lang="en-US" sz="2800" dirty="0"/>
          </a:p>
        </p:txBody>
      </p:sp>
      <p:sp>
        <p:nvSpPr>
          <p:cNvPr id="79" name="Text 23">
            <a:extLst>
              <a:ext uri="{FF2B5EF4-FFF2-40B4-BE49-F238E27FC236}">
                <a16:creationId xmlns:a16="http://schemas.microsoft.com/office/drawing/2014/main" id="{88C7B988-C25E-E209-B05B-850562A7A4C6}"/>
              </a:ext>
            </a:extLst>
          </p:cNvPr>
          <p:cNvSpPr/>
          <p:nvPr/>
        </p:nvSpPr>
        <p:spPr>
          <a:xfrm>
            <a:off x="6278880"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years covered</a:t>
            </a:r>
          </a:p>
          <a:p>
            <a:pPr marL="0" indent="0" algn="ctr">
              <a:buNone/>
            </a:pPr>
            <a:r>
              <a:rPr lang="en-US" sz="1200" b="1" dirty="0">
                <a:solidFill>
                  <a:srgbClr val="E7F0DD"/>
                </a:solidFill>
                <a:cs typeface="Calibri" pitchFamily="34" charset="-120"/>
              </a:rPr>
              <a:t>1990 - 2013</a:t>
            </a:r>
            <a:endParaRPr lang="en-US" sz="1200" b="1" dirty="0"/>
          </a:p>
        </p:txBody>
      </p:sp>
      <p:sp>
        <p:nvSpPr>
          <p:cNvPr id="80" name="Shape 24">
            <a:extLst>
              <a:ext uri="{FF2B5EF4-FFF2-40B4-BE49-F238E27FC236}">
                <a16:creationId xmlns:a16="http://schemas.microsoft.com/office/drawing/2014/main" id="{DEE03FCB-36CF-356D-1BE0-64AB8897F674}"/>
              </a:ext>
            </a:extLst>
          </p:cNvPr>
          <p:cNvSpPr/>
          <p:nvPr/>
        </p:nvSpPr>
        <p:spPr>
          <a:xfrm>
            <a:off x="8144256" y="3091785"/>
            <a:ext cx="1810512" cy="874256"/>
          </a:xfrm>
          <a:prstGeom prst="roundRect">
            <a:avLst>
              <a:gd name="adj" fmla="val 6000"/>
            </a:avLst>
          </a:prstGeom>
          <a:solidFill>
            <a:srgbClr val="2C5F2D"/>
          </a:solidFill>
          <a:ln/>
        </p:spPr>
        <p:txBody>
          <a:bodyPr/>
          <a:lstStyle/>
          <a:p>
            <a:endParaRPr lang="en-GB"/>
          </a:p>
        </p:txBody>
      </p:sp>
      <p:sp>
        <p:nvSpPr>
          <p:cNvPr id="81" name="Text 25">
            <a:extLst>
              <a:ext uri="{FF2B5EF4-FFF2-40B4-BE49-F238E27FC236}">
                <a16:creationId xmlns:a16="http://schemas.microsoft.com/office/drawing/2014/main" id="{B70CDB45-5728-887D-F956-B738258B598F}"/>
              </a:ext>
            </a:extLst>
          </p:cNvPr>
          <p:cNvSpPr/>
          <p:nvPr/>
        </p:nvSpPr>
        <p:spPr>
          <a:xfrm>
            <a:off x="8144256"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7</a:t>
            </a:r>
            <a:endParaRPr lang="en-US" sz="2800" dirty="0"/>
          </a:p>
        </p:txBody>
      </p:sp>
      <p:sp>
        <p:nvSpPr>
          <p:cNvPr id="82" name="Text 26">
            <a:extLst>
              <a:ext uri="{FF2B5EF4-FFF2-40B4-BE49-F238E27FC236}">
                <a16:creationId xmlns:a16="http://schemas.microsoft.com/office/drawing/2014/main" id="{9FC485CB-C3DE-E1CF-5731-1B66A36B3DBE}"/>
              </a:ext>
            </a:extLst>
          </p:cNvPr>
          <p:cNvSpPr/>
          <p:nvPr/>
        </p:nvSpPr>
        <p:spPr>
          <a:xfrm>
            <a:off x="8217408"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variables</a:t>
            </a:r>
            <a:endParaRPr lang="en-US" b="1" dirty="0"/>
          </a:p>
        </p:txBody>
      </p:sp>
      <p:sp>
        <p:nvSpPr>
          <p:cNvPr id="83" name="Shape 27">
            <a:extLst>
              <a:ext uri="{FF2B5EF4-FFF2-40B4-BE49-F238E27FC236}">
                <a16:creationId xmlns:a16="http://schemas.microsoft.com/office/drawing/2014/main" id="{7602FB52-8B67-A7DD-FC26-441CB7482887}"/>
              </a:ext>
            </a:extLst>
          </p:cNvPr>
          <p:cNvSpPr/>
          <p:nvPr/>
        </p:nvSpPr>
        <p:spPr>
          <a:xfrm>
            <a:off x="10082784" y="3091785"/>
            <a:ext cx="1810512" cy="874256"/>
          </a:xfrm>
          <a:prstGeom prst="roundRect">
            <a:avLst>
              <a:gd name="adj" fmla="val 6000"/>
            </a:avLst>
          </a:prstGeom>
          <a:solidFill>
            <a:srgbClr val="6E9B4A"/>
          </a:solidFill>
          <a:ln/>
        </p:spPr>
        <p:txBody>
          <a:bodyPr/>
          <a:lstStyle/>
          <a:p>
            <a:endParaRPr lang="en-GB"/>
          </a:p>
        </p:txBody>
      </p:sp>
      <p:sp>
        <p:nvSpPr>
          <p:cNvPr id="84" name="Text 28">
            <a:extLst>
              <a:ext uri="{FF2B5EF4-FFF2-40B4-BE49-F238E27FC236}">
                <a16:creationId xmlns:a16="http://schemas.microsoft.com/office/drawing/2014/main" id="{71834A79-1933-B52A-9D69-DBD0E5202BB2}"/>
              </a:ext>
            </a:extLst>
          </p:cNvPr>
          <p:cNvSpPr/>
          <p:nvPr/>
        </p:nvSpPr>
        <p:spPr>
          <a:xfrm>
            <a:off x="10082784" y="3091785"/>
            <a:ext cx="1810512"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FFFFFF"/>
                </a:solidFill>
                <a:ea typeface="Cambria" pitchFamily="34" charset="-122"/>
                <a:cs typeface="Cambria" pitchFamily="34" charset="-120"/>
              </a:rPr>
              <a:t>0</a:t>
            </a:r>
            <a:endParaRPr lang="en-US" sz="2800" dirty="0"/>
          </a:p>
        </p:txBody>
      </p:sp>
      <p:sp>
        <p:nvSpPr>
          <p:cNvPr id="85" name="Text 29">
            <a:extLst>
              <a:ext uri="{FF2B5EF4-FFF2-40B4-BE49-F238E27FC236}">
                <a16:creationId xmlns:a16="http://schemas.microsoft.com/office/drawing/2014/main" id="{147C8527-D4C6-3E5E-34D5-83FAA52D31B3}"/>
              </a:ext>
            </a:extLst>
          </p:cNvPr>
          <p:cNvSpPr/>
          <p:nvPr/>
        </p:nvSpPr>
        <p:spPr>
          <a:xfrm>
            <a:off x="10155936" y="3508841"/>
            <a:ext cx="1664208"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E7F0DD"/>
                </a:solidFill>
                <a:ea typeface="Calibri" pitchFamily="34" charset="-122"/>
                <a:cs typeface="Calibri" pitchFamily="34" charset="-120"/>
              </a:rPr>
              <a:t>missing values</a:t>
            </a:r>
            <a:endParaRPr lang="en-US" b="1" dirty="0"/>
          </a:p>
        </p:txBody>
      </p:sp>
      <p:sp>
        <p:nvSpPr>
          <p:cNvPr id="86" name="Text 30">
            <a:extLst>
              <a:ext uri="{FF2B5EF4-FFF2-40B4-BE49-F238E27FC236}">
                <a16:creationId xmlns:a16="http://schemas.microsoft.com/office/drawing/2014/main" id="{1C0CEDBD-BBB0-1692-9234-9F55CD0F45CF}"/>
              </a:ext>
            </a:extLst>
          </p:cNvPr>
          <p:cNvSpPr/>
          <p:nvPr/>
        </p:nvSpPr>
        <p:spPr>
          <a:xfrm>
            <a:off x="266700" y="4654964"/>
            <a:ext cx="548640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2C5F2D"/>
                </a:solidFill>
                <a:ea typeface="Cambria" pitchFamily="34" charset="-122"/>
                <a:cs typeface="Cambria" pitchFamily="34" charset="-120"/>
              </a:rPr>
              <a:t>Variables in yield_df.csv</a:t>
            </a:r>
            <a:endParaRPr lang="en-US" sz="2000" dirty="0"/>
          </a:p>
        </p:txBody>
      </p:sp>
      <p:sp>
        <p:nvSpPr>
          <p:cNvPr id="89" name="Text 32">
            <a:extLst>
              <a:ext uri="{FF2B5EF4-FFF2-40B4-BE49-F238E27FC236}">
                <a16:creationId xmlns:a16="http://schemas.microsoft.com/office/drawing/2014/main" id="{1E5691F0-7902-5675-F04A-D6EAAE688097}"/>
              </a:ext>
            </a:extLst>
          </p:cNvPr>
          <p:cNvSpPr/>
          <p:nvPr/>
        </p:nvSpPr>
        <p:spPr>
          <a:xfrm>
            <a:off x="298704" y="6336792"/>
            <a:ext cx="64008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B7266"/>
                </a:solidFill>
                <a:ea typeface="Calibri" pitchFamily="34" charset="-122"/>
                <a:cs typeface="Calibri" pitchFamily="34" charset="-120"/>
              </a:rPr>
              <a:t>Crop Yield Prediction  |  Capstone Project</a:t>
            </a:r>
            <a:endParaRPr lang="en-US" sz="1000" dirty="0"/>
          </a:p>
        </p:txBody>
      </p:sp>
      <p:sp>
        <p:nvSpPr>
          <p:cNvPr id="90" name="Text 33">
            <a:extLst>
              <a:ext uri="{FF2B5EF4-FFF2-40B4-BE49-F238E27FC236}">
                <a16:creationId xmlns:a16="http://schemas.microsoft.com/office/drawing/2014/main" id="{7B42447B-FD41-69C4-7816-4DABE65B9ED1}"/>
              </a:ext>
            </a:extLst>
          </p:cNvPr>
          <p:cNvSpPr/>
          <p:nvPr/>
        </p:nvSpPr>
        <p:spPr>
          <a:xfrm>
            <a:off x="11116056" y="6336792"/>
            <a:ext cx="4572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1000" dirty="0">
                <a:solidFill>
                  <a:srgbClr val="6B7266"/>
                </a:solidFill>
                <a:ea typeface="Calibri" pitchFamily="34" charset="-122"/>
                <a:cs typeface="Calibri" pitchFamily="34" charset="-120"/>
              </a:rPr>
              <a:t>3</a:t>
            </a:r>
            <a:endParaRPr lang="en-US" sz="1000" dirty="0"/>
          </a:p>
        </p:txBody>
      </p:sp>
      <p:sp>
        <p:nvSpPr>
          <p:cNvPr id="91" name="Rectangle 90">
            <a:extLst>
              <a:ext uri="{FF2B5EF4-FFF2-40B4-BE49-F238E27FC236}">
                <a16:creationId xmlns:a16="http://schemas.microsoft.com/office/drawing/2014/main" id="{E7A729DF-3CF9-F4FB-09F0-0CDC285B6771}"/>
              </a:ext>
            </a:extLst>
          </p:cNvPr>
          <p:cNvSpPr/>
          <p:nvPr/>
        </p:nvSpPr>
        <p:spPr>
          <a:xfrm>
            <a:off x="372378" y="578288"/>
            <a:ext cx="3016998" cy="248459"/>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A07BA3C8-76B8-C132-F0BA-E1C184E5F03C}"/>
              </a:ext>
            </a:extLst>
          </p:cNvPr>
          <p:cNvSpPr/>
          <p:nvPr/>
        </p:nvSpPr>
        <p:spPr>
          <a:xfrm>
            <a:off x="8684535" y="565357"/>
            <a:ext cx="3016998" cy="248459"/>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Text 6">
            <a:extLst>
              <a:ext uri="{FF2B5EF4-FFF2-40B4-BE49-F238E27FC236}">
                <a16:creationId xmlns:a16="http://schemas.microsoft.com/office/drawing/2014/main" id="{B14712DC-A2E7-97D7-24D3-FD8D0DB94FB7}"/>
              </a:ext>
            </a:extLst>
          </p:cNvPr>
          <p:cNvSpPr/>
          <p:nvPr/>
        </p:nvSpPr>
        <p:spPr>
          <a:xfrm>
            <a:off x="298704" y="5384364"/>
            <a:ext cx="11274552"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b="1" dirty="0">
                <a:solidFill>
                  <a:schemeClr val="accent6">
                    <a:lumMod val="50000"/>
                  </a:schemeClr>
                </a:solidFill>
                <a:ea typeface="Calibri" pitchFamily="34" charset="-122"/>
                <a:cs typeface="Calibri" pitchFamily="34" charset="-120"/>
              </a:rPr>
              <a:t>Target: 		hg/</a:t>
            </a:r>
            <a:r>
              <a:rPr lang="en-US" b="1" dirty="0" err="1">
                <a:solidFill>
                  <a:schemeClr val="accent6">
                    <a:lumMod val="50000"/>
                  </a:schemeClr>
                </a:solidFill>
                <a:ea typeface="Calibri" pitchFamily="34" charset="-122"/>
                <a:cs typeface="Calibri" pitchFamily="34" charset="-120"/>
              </a:rPr>
              <a:t>ha_yield</a:t>
            </a:r>
            <a:r>
              <a:rPr lang="en-US" b="1" dirty="0">
                <a:solidFill>
                  <a:schemeClr val="accent6">
                    <a:lumMod val="50000"/>
                  </a:schemeClr>
                </a:solidFill>
                <a:ea typeface="Calibri" pitchFamily="34" charset="-122"/>
                <a:cs typeface="Calibri" pitchFamily="34" charset="-120"/>
              </a:rPr>
              <a:t> – Crop yield in hectograms per hectare</a:t>
            </a:r>
          </a:p>
          <a:p>
            <a:pPr marL="0" indent="0">
              <a:lnSpc>
                <a:spcPct val="110000"/>
              </a:lnSpc>
              <a:buNone/>
            </a:pPr>
            <a:r>
              <a:rPr lang="en-US" b="1" dirty="0">
                <a:solidFill>
                  <a:schemeClr val="accent6">
                    <a:lumMod val="50000"/>
                  </a:schemeClr>
                </a:solidFill>
                <a:cs typeface="Calibri" pitchFamily="34" charset="-120"/>
              </a:rPr>
              <a:t>Predictors:	 Area (Countries), Item (Crop types), </a:t>
            </a:r>
            <a:r>
              <a:rPr lang="en-US" b="1" dirty="0" err="1">
                <a:solidFill>
                  <a:schemeClr val="accent6">
                    <a:lumMod val="50000"/>
                  </a:schemeClr>
                </a:solidFill>
                <a:cs typeface="Calibri" pitchFamily="34" charset="-120"/>
              </a:rPr>
              <a:t>average_rain_mm_per_year</a:t>
            </a:r>
            <a:r>
              <a:rPr lang="en-US" b="1" dirty="0">
                <a:solidFill>
                  <a:schemeClr val="accent6">
                    <a:lumMod val="50000"/>
                  </a:schemeClr>
                </a:solidFill>
                <a:cs typeface="Calibri" pitchFamily="34" charset="-120"/>
              </a:rPr>
              <a:t>, </a:t>
            </a:r>
            <a:r>
              <a:rPr lang="en-US" b="1" dirty="0" err="1">
                <a:solidFill>
                  <a:schemeClr val="accent6">
                    <a:lumMod val="50000"/>
                  </a:schemeClr>
                </a:solidFill>
                <a:cs typeface="Calibri" pitchFamily="34" charset="-120"/>
              </a:rPr>
              <a:t>pesticides_tonnes</a:t>
            </a:r>
            <a:r>
              <a:rPr lang="en-US" b="1" dirty="0">
                <a:solidFill>
                  <a:schemeClr val="accent6">
                    <a:lumMod val="50000"/>
                  </a:schemeClr>
                </a:solidFill>
                <a:cs typeface="Calibri" pitchFamily="34" charset="-120"/>
              </a:rPr>
              <a:t>, </a:t>
            </a:r>
            <a:r>
              <a:rPr lang="en-US" b="1" dirty="0" err="1">
                <a:solidFill>
                  <a:schemeClr val="accent6">
                    <a:lumMod val="50000"/>
                  </a:schemeClr>
                </a:solidFill>
                <a:cs typeface="Calibri" pitchFamily="34" charset="-120"/>
              </a:rPr>
              <a:t>avg_temp</a:t>
            </a:r>
            <a:endParaRPr lang="en-US" b="1" dirty="0">
              <a:solidFill>
                <a:schemeClr val="accent6">
                  <a:lumMod val="50000"/>
                </a:schemeClr>
              </a:solidFill>
            </a:endParaRPr>
          </a:p>
        </p:txBody>
      </p:sp>
      <p:sp>
        <p:nvSpPr>
          <p:cNvPr id="99" name="Oval 98">
            <a:extLst>
              <a:ext uri="{FF2B5EF4-FFF2-40B4-BE49-F238E27FC236}">
                <a16:creationId xmlns:a16="http://schemas.microsoft.com/office/drawing/2014/main" id="{F259FE76-ACEB-A172-FDBC-CE390AA6AB12}"/>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8" name="Shape 7">
            <a:extLst>
              <a:ext uri="{FF2B5EF4-FFF2-40B4-BE49-F238E27FC236}">
                <a16:creationId xmlns:a16="http://schemas.microsoft.com/office/drawing/2014/main" id="{08909A02-8A05-2AF1-A2EA-C365A1183656}"/>
              </a:ext>
            </a:extLst>
          </p:cNvPr>
          <p:cNvSpPr/>
          <p:nvPr/>
        </p:nvSpPr>
        <p:spPr>
          <a:xfrm>
            <a:off x="579120" y="758060"/>
            <a:ext cx="11308080" cy="514220"/>
          </a:xfrm>
          <a:prstGeom prst="roundRect">
            <a:avLst>
              <a:gd name="adj" fmla="val 2685"/>
            </a:avLst>
          </a:prstGeom>
          <a:solidFill>
            <a:srgbClr val="E7F0DD"/>
          </a:solidFill>
          <a:ln/>
        </p:spPr>
      </p:sp>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chemeClr val="accent6">
                    <a:lumMod val="50000"/>
                  </a:schemeClr>
                </a:solidFill>
                <a:latin typeface="Cambria" pitchFamily="34" charset="0"/>
                <a:ea typeface="Cambria" pitchFamily="34" charset="-122"/>
                <a:cs typeface="Cambria" pitchFamily="34" charset="-120"/>
              </a:rPr>
              <a:t>Cleaning &amp; Quality Checks</a:t>
            </a:r>
            <a:endParaRPr lang="en-US" sz="3000" b="1" dirty="0">
              <a:solidFill>
                <a:schemeClr val="accent6">
                  <a:lumMod val="50000"/>
                </a:schemeClr>
              </a:solidFill>
            </a:endParaRPr>
          </a:p>
        </p:txBody>
      </p:sp>
      <p:sp>
        <p:nvSpPr>
          <p:cNvPr id="4" name="Shape 2"/>
          <p:cNvSpPr/>
          <p:nvPr/>
        </p:nvSpPr>
        <p:spPr>
          <a:xfrm>
            <a:off x="548640" y="1691640"/>
            <a:ext cx="2724912" cy="3246120"/>
          </a:xfrm>
          <a:prstGeom prst="roundRect">
            <a:avLst>
              <a:gd name="adj" fmla="val 2685"/>
            </a:avLst>
          </a:prstGeom>
          <a:solidFill>
            <a:srgbClr val="E7F0DD"/>
          </a:solidFill>
          <a:ln/>
        </p:spPr>
      </p:sp>
      <p:sp>
        <p:nvSpPr>
          <p:cNvPr id="5" name="Shape 3"/>
          <p:cNvSpPr/>
          <p:nvPr/>
        </p:nvSpPr>
        <p:spPr>
          <a:xfrm>
            <a:off x="749808" y="1920240"/>
            <a:ext cx="502920" cy="502920"/>
          </a:xfrm>
          <a:prstGeom prst="ellipse">
            <a:avLst/>
          </a:prstGeom>
          <a:solidFill>
            <a:srgbClr val="C68A2E"/>
          </a:solidFill>
          <a:ln/>
        </p:spPr>
      </p:sp>
      <p:sp>
        <p:nvSpPr>
          <p:cNvPr id="6" name="Text 4"/>
          <p:cNvSpPr/>
          <p:nvPr/>
        </p:nvSpPr>
        <p:spPr>
          <a:xfrm>
            <a:off x="749808"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49808" y="2606040"/>
            <a:ext cx="2322576" cy="594360"/>
          </a:xfrm>
          <a:prstGeom prst="rect">
            <a:avLst/>
          </a:prstGeom>
          <a:noFill/>
          <a:ln/>
        </p:spPr>
        <p:txBody>
          <a:bodyPr wrap="square"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Drop index column</a:t>
            </a:r>
            <a:endParaRPr lang="en-US" sz="1450" b="1" dirty="0"/>
          </a:p>
        </p:txBody>
      </p:sp>
      <p:sp>
        <p:nvSpPr>
          <p:cNvPr id="8" name="Text 6"/>
          <p:cNvSpPr/>
          <p:nvPr/>
        </p:nvSpPr>
        <p:spPr>
          <a:xfrm>
            <a:off x="749808" y="3200400"/>
            <a:ext cx="2523744" cy="758952"/>
          </a:xfrm>
          <a:prstGeom prst="rect">
            <a:avLst/>
          </a:prstGeom>
          <a:noFill/>
          <a:ln/>
        </p:spPr>
        <p:txBody>
          <a:bodyPr wrap="square" rtlCol="0" anchor="ctr"/>
          <a:lstStyle/>
          <a:p>
            <a:pPr marL="0" indent="0">
              <a:lnSpc>
                <a:spcPct val="115000"/>
              </a:lnSpc>
              <a:buNone/>
            </a:pPr>
            <a:r>
              <a:rPr lang="en-US" sz="1400" b="1" dirty="0">
                <a:solidFill>
                  <a:srgbClr val="2A2E24"/>
                </a:solidFill>
                <a:latin typeface="Calibri" pitchFamily="34" charset="0"/>
                <a:ea typeface="Calibri" pitchFamily="34" charset="-122"/>
                <a:cs typeface="Calibri" pitchFamily="34" charset="-120"/>
              </a:rPr>
              <a:t>The auto-generated "Unnamed: 0" column carried no analytical value and was removed.</a:t>
            </a:r>
            <a:endParaRPr lang="en-US" sz="1400" b="1" dirty="0"/>
          </a:p>
        </p:txBody>
      </p:sp>
      <p:sp>
        <p:nvSpPr>
          <p:cNvPr id="9" name="Shape 7"/>
          <p:cNvSpPr/>
          <p:nvPr/>
        </p:nvSpPr>
        <p:spPr>
          <a:xfrm>
            <a:off x="3419856" y="1691640"/>
            <a:ext cx="2724912" cy="3246120"/>
          </a:xfrm>
          <a:prstGeom prst="roundRect">
            <a:avLst>
              <a:gd name="adj" fmla="val 2685"/>
            </a:avLst>
          </a:prstGeom>
          <a:solidFill>
            <a:srgbClr val="E7F0DD"/>
          </a:solidFill>
          <a:ln/>
        </p:spPr>
      </p:sp>
      <p:sp>
        <p:nvSpPr>
          <p:cNvPr id="10" name="Shape 8"/>
          <p:cNvSpPr/>
          <p:nvPr/>
        </p:nvSpPr>
        <p:spPr>
          <a:xfrm>
            <a:off x="3621024" y="1920240"/>
            <a:ext cx="502920" cy="502920"/>
          </a:xfrm>
          <a:prstGeom prst="ellipse">
            <a:avLst/>
          </a:prstGeom>
          <a:solidFill>
            <a:srgbClr val="C68A2E"/>
          </a:solidFill>
          <a:ln/>
        </p:spPr>
      </p:sp>
      <p:sp>
        <p:nvSpPr>
          <p:cNvPr id="11" name="Text 9"/>
          <p:cNvSpPr/>
          <p:nvPr/>
        </p:nvSpPr>
        <p:spPr>
          <a:xfrm>
            <a:off x="3621024"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621024" y="2606040"/>
            <a:ext cx="2322576" cy="594360"/>
          </a:xfrm>
          <a:prstGeom prst="rect">
            <a:avLst/>
          </a:prstGeom>
          <a:noFill/>
          <a:ln/>
        </p:spPr>
        <p:txBody>
          <a:bodyPr wrap="square"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Remove duplicates</a:t>
            </a:r>
            <a:endParaRPr lang="en-US" sz="1450" dirty="0"/>
          </a:p>
        </p:txBody>
      </p:sp>
      <p:sp>
        <p:nvSpPr>
          <p:cNvPr id="13" name="Text 11"/>
          <p:cNvSpPr/>
          <p:nvPr/>
        </p:nvSpPr>
        <p:spPr>
          <a:xfrm>
            <a:off x="3621024" y="3200400"/>
            <a:ext cx="2468880" cy="1048215"/>
          </a:xfrm>
          <a:prstGeom prst="rect">
            <a:avLst/>
          </a:prstGeom>
          <a:noFill/>
          <a:ln/>
        </p:spPr>
        <p:txBody>
          <a:bodyPr wrap="square" rtlCol="0" anchor="ctr"/>
          <a:lstStyle/>
          <a:p>
            <a:pPr marL="0" indent="0">
              <a:lnSpc>
                <a:spcPct val="115000"/>
              </a:lnSpc>
              <a:buNone/>
            </a:pPr>
            <a:r>
              <a:rPr lang="en-US" sz="1400" b="1" dirty="0">
                <a:solidFill>
                  <a:srgbClr val="2A2E24"/>
                </a:solidFill>
                <a:latin typeface="Calibri" pitchFamily="34" charset="0"/>
                <a:ea typeface="Calibri" pitchFamily="34" charset="-122"/>
                <a:cs typeface="Calibri" pitchFamily="34" charset="-120"/>
              </a:rPr>
              <a:t>2,310 exact duplicate records were identified (masked earlier by the index column) and removed.</a:t>
            </a:r>
            <a:endParaRPr lang="en-US" sz="1400" b="1" dirty="0"/>
          </a:p>
        </p:txBody>
      </p:sp>
      <p:sp>
        <p:nvSpPr>
          <p:cNvPr id="14" name="Shape 12"/>
          <p:cNvSpPr/>
          <p:nvPr/>
        </p:nvSpPr>
        <p:spPr>
          <a:xfrm>
            <a:off x="6291072" y="1691640"/>
            <a:ext cx="2724912" cy="3246120"/>
          </a:xfrm>
          <a:prstGeom prst="roundRect">
            <a:avLst>
              <a:gd name="adj" fmla="val 2685"/>
            </a:avLst>
          </a:prstGeom>
          <a:solidFill>
            <a:srgbClr val="E7F0DD"/>
          </a:solidFill>
          <a:ln/>
        </p:spPr>
      </p:sp>
      <p:sp>
        <p:nvSpPr>
          <p:cNvPr id="15" name="Shape 13"/>
          <p:cNvSpPr/>
          <p:nvPr/>
        </p:nvSpPr>
        <p:spPr>
          <a:xfrm>
            <a:off x="6492240" y="1920240"/>
            <a:ext cx="502920" cy="502920"/>
          </a:xfrm>
          <a:prstGeom prst="ellipse">
            <a:avLst/>
          </a:prstGeom>
          <a:solidFill>
            <a:srgbClr val="C68A2E"/>
          </a:solidFill>
          <a:ln/>
        </p:spPr>
      </p:sp>
      <p:sp>
        <p:nvSpPr>
          <p:cNvPr id="16" name="Text 14"/>
          <p:cNvSpPr/>
          <p:nvPr/>
        </p:nvSpPr>
        <p:spPr>
          <a:xfrm>
            <a:off x="6492240"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492240" y="2606040"/>
            <a:ext cx="2322576" cy="594360"/>
          </a:xfrm>
          <a:prstGeom prst="rect">
            <a:avLst/>
          </a:prstGeom>
          <a:noFill/>
          <a:ln/>
        </p:spPr>
        <p:txBody>
          <a:bodyPr wrap="square"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Reset index</a:t>
            </a:r>
            <a:endParaRPr lang="en-US" sz="1450" dirty="0"/>
          </a:p>
        </p:txBody>
      </p:sp>
      <p:sp>
        <p:nvSpPr>
          <p:cNvPr id="18" name="Text 16"/>
          <p:cNvSpPr/>
          <p:nvPr/>
        </p:nvSpPr>
        <p:spPr>
          <a:xfrm>
            <a:off x="6492240" y="3155796"/>
            <a:ext cx="2322576" cy="914400"/>
          </a:xfrm>
          <a:prstGeom prst="rect">
            <a:avLst/>
          </a:prstGeom>
          <a:noFill/>
          <a:ln/>
        </p:spPr>
        <p:txBody>
          <a:bodyPr wrap="square" rtlCol="0" anchor="ctr"/>
          <a:lstStyle/>
          <a:p>
            <a:pPr marL="0" indent="0">
              <a:lnSpc>
                <a:spcPct val="115000"/>
              </a:lnSpc>
              <a:buNone/>
            </a:pPr>
            <a:r>
              <a:rPr lang="en-US" sz="1400" b="1" dirty="0">
                <a:solidFill>
                  <a:srgbClr val="2A2E24"/>
                </a:solidFill>
                <a:latin typeface="Calibri" pitchFamily="34" charset="0"/>
                <a:ea typeface="Calibri" pitchFamily="34" charset="-122"/>
                <a:cs typeface="Calibri" pitchFamily="34" charset="-120"/>
              </a:rPr>
              <a:t>Row indices were reset to a clean, continuous sequence after de-duplication.</a:t>
            </a:r>
            <a:endParaRPr lang="en-US" sz="1400" b="1" dirty="0"/>
          </a:p>
        </p:txBody>
      </p:sp>
      <p:sp>
        <p:nvSpPr>
          <p:cNvPr id="19" name="Shape 17"/>
          <p:cNvSpPr/>
          <p:nvPr/>
        </p:nvSpPr>
        <p:spPr>
          <a:xfrm>
            <a:off x="9162288" y="1691640"/>
            <a:ext cx="2724912" cy="3246120"/>
          </a:xfrm>
          <a:prstGeom prst="roundRect">
            <a:avLst>
              <a:gd name="adj" fmla="val 2685"/>
            </a:avLst>
          </a:prstGeom>
          <a:solidFill>
            <a:srgbClr val="E7F0DD"/>
          </a:solidFill>
          <a:ln/>
        </p:spPr>
      </p:sp>
      <p:sp>
        <p:nvSpPr>
          <p:cNvPr id="20" name="Shape 18"/>
          <p:cNvSpPr/>
          <p:nvPr/>
        </p:nvSpPr>
        <p:spPr>
          <a:xfrm>
            <a:off x="9363456" y="1920240"/>
            <a:ext cx="502920" cy="502920"/>
          </a:xfrm>
          <a:prstGeom prst="ellipse">
            <a:avLst/>
          </a:prstGeom>
          <a:solidFill>
            <a:srgbClr val="C68A2E"/>
          </a:solidFill>
          <a:ln/>
        </p:spPr>
      </p:sp>
      <p:sp>
        <p:nvSpPr>
          <p:cNvPr id="21" name="Text 19"/>
          <p:cNvSpPr/>
          <p:nvPr/>
        </p:nvSpPr>
        <p:spPr>
          <a:xfrm>
            <a:off x="9363456"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363456" y="2606040"/>
            <a:ext cx="2322576" cy="594360"/>
          </a:xfrm>
          <a:prstGeom prst="rect">
            <a:avLst/>
          </a:prstGeom>
          <a:noFill/>
          <a:ln/>
        </p:spPr>
        <p:txBody>
          <a:bodyPr wrap="square"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Review outliers</a:t>
            </a:r>
            <a:endParaRPr lang="en-US" sz="1450" dirty="0"/>
          </a:p>
        </p:txBody>
      </p:sp>
      <p:sp>
        <p:nvSpPr>
          <p:cNvPr id="23" name="Text 21"/>
          <p:cNvSpPr/>
          <p:nvPr/>
        </p:nvSpPr>
        <p:spPr>
          <a:xfrm>
            <a:off x="9189720" y="3070711"/>
            <a:ext cx="2670048" cy="1307592"/>
          </a:xfrm>
          <a:prstGeom prst="rect">
            <a:avLst/>
          </a:prstGeom>
          <a:noFill/>
          <a:ln/>
        </p:spPr>
        <p:txBody>
          <a:bodyPr wrap="square" rtlCol="0" anchor="ctr"/>
          <a:lstStyle/>
          <a:p>
            <a:pPr marL="0" indent="0">
              <a:lnSpc>
                <a:spcPct val="115000"/>
              </a:lnSpc>
              <a:buNone/>
            </a:pPr>
            <a:r>
              <a:rPr lang="en-US" sz="1400" b="1" dirty="0">
                <a:solidFill>
                  <a:srgbClr val="2A2E24"/>
                </a:solidFill>
                <a:latin typeface="Calibri" pitchFamily="34" charset="0"/>
                <a:ea typeface="Calibri" pitchFamily="34" charset="-122"/>
                <a:cs typeface="Calibri" pitchFamily="34" charset="-120"/>
              </a:rPr>
              <a:t>1,918 IQR outliers in yield traced to root/tuber crops (potatoes, cassava, yams) - genuine agronomic variation, so retained.</a:t>
            </a:r>
            <a:endParaRPr lang="en-US" sz="1400" b="1" dirty="0"/>
          </a:p>
        </p:txBody>
      </p:sp>
      <p:sp>
        <p:nvSpPr>
          <p:cNvPr id="24" name="Shape 22"/>
          <p:cNvSpPr/>
          <p:nvPr/>
        </p:nvSpPr>
        <p:spPr>
          <a:xfrm>
            <a:off x="548640" y="5166360"/>
            <a:ext cx="11338560" cy="685800"/>
          </a:xfrm>
          <a:prstGeom prst="roundRect">
            <a:avLst>
              <a:gd name="adj" fmla="val 10667"/>
            </a:avLst>
          </a:prstGeom>
          <a:solidFill>
            <a:srgbClr val="2C5F2D"/>
          </a:solidFill>
          <a:ln/>
        </p:spPr>
      </p:sp>
      <p:sp>
        <p:nvSpPr>
          <p:cNvPr id="25" name="Text 23"/>
          <p:cNvSpPr/>
          <p:nvPr/>
        </p:nvSpPr>
        <p:spPr>
          <a:xfrm>
            <a:off x="579120" y="5134356"/>
            <a:ext cx="11308080" cy="685800"/>
          </a:xfrm>
          <a:prstGeom prst="rect">
            <a:avLst/>
          </a:prstGeom>
          <a:noFill/>
          <a:ln/>
        </p:spPr>
        <p:txBody>
          <a:bodyPr wrap="square" rtlCol="0" anchor="ctr"/>
          <a:lstStyle/>
          <a:p>
            <a:pPr marL="914400" indent="-914400">
              <a:buNone/>
            </a:pPr>
            <a:r>
              <a:rPr lang="en-US" sz="2000" b="1" dirty="0">
                <a:solidFill>
                  <a:srgbClr val="C68A2E"/>
                </a:solidFill>
                <a:latin typeface="Calibri" pitchFamily="34" charset="0"/>
                <a:ea typeface="Calibri" pitchFamily="34" charset="-122"/>
                <a:cs typeface="Calibri" pitchFamily="34" charset="-120"/>
              </a:rPr>
              <a:t>Result:  </a:t>
            </a:r>
            <a:r>
              <a:rPr lang="en-US" sz="2000" dirty="0">
                <a:solidFill>
                  <a:srgbClr val="FFFFFF"/>
                </a:solidFill>
                <a:latin typeface="Calibri" pitchFamily="34" charset="0"/>
                <a:ea typeface="Calibri" pitchFamily="34" charset="-122"/>
                <a:cs typeface="Calibri" pitchFamily="34" charset="-120"/>
              </a:rPr>
              <a:t>28,242 → 25,932 clean records across 101 countries, 10 crops, and 23 years</a:t>
            </a:r>
          </a:p>
          <a:p>
            <a:pPr marL="914400" indent="-914400">
              <a:buNone/>
            </a:pPr>
            <a:r>
              <a:rPr lang="en-US" sz="2000" dirty="0">
                <a:solidFill>
                  <a:srgbClr val="FFFFFF"/>
                </a:solidFill>
                <a:latin typeface="Calibri" pitchFamily="34" charset="0"/>
                <a:ea typeface="Calibri" pitchFamily="34" charset="-122"/>
                <a:cs typeface="Calibri" pitchFamily="34" charset="-120"/>
              </a:rPr>
              <a:t>             no missing values, ready for EDA and modelling.</a:t>
            </a:r>
            <a:endParaRPr lang="en-US" sz="2000" dirty="0"/>
          </a:p>
        </p:txBody>
      </p:sp>
      <p:sp>
        <p:nvSpPr>
          <p:cNvPr id="26" name="Text 24"/>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4</a:t>
            </a:r>
            <a:endParaRPr lang="en-US" sz="1000" dirty="0"/>
          </a:p>
        </p:txBody>
      </p:sp>
      <p:sp>
        <p:nvSpPr>
          <p:cNvPr id="29" name="Oval 28">
            <a:extLst>
              <a:ext uri="{FF2B5EF4-FFF2-40B4-BE49-F238E27FC236}">
                <a16:creationId xmlns:a16="http://schemas.microsoft.com/office/drawing/2014/main" id="{5FE85CCA-0E76-23F9-6491-4D14CC047A30}"/>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ea typeface="Calibri" pitchFamily="34" charset="-122"/>
                <a:cs typeface="Calibri" pitchFamily="34" charset="-120"/>
              </a:rPr>
              <a:t>EXPLORATORY DATA ANALYSIS  ·  UNIVARIATE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ea typeface="Cambria" pitchFamily="34" charset="-122"/>
                <a:cs typeface="Cambria" pitchFamily="34" charset="-120"/>
              </a:rPr>
              <a:t>Yield Is Strongly Right-Skewed</a:t>
            </a:r>
            <a:endParaRPr lang="en-US" sz="3000" dirty="0"/>
          </a:p>
        </p:txBody>
      </p:sp>
      <p:pic>
        <p:nvPicPr>
          <p:cNvPr id="4" name="Image 0" descr="/home/claude/imgs/cell70_0.png"/>
          <p:cNvPicPr>
            <a:picLocks noChangeAspect="1"/>
          </p:cNvPicPr>
          <p:nvPr/>
        </p:nvPicPr>
        <p:blipFill>
          <a:blip r:embed="rId3"/>
          <a:stretch>
            <a:fillRect/>
          </a:stretch>
        </p:blipFill>
        <p:spPr>
          <a:xfrm>
            <a:off x="548640" y="1298449"/>
            <a:ext cx="8020050" cy="3840480"/>
          </a:xfrm>
          <a:prstGeom prst="rect">
            <a:avLst/>
          </a:prstGeom>
        </p:spPr>
      </p:pic>
      <p:sp>
        <p:nvSpPr>
          <p:cNvPr id="5" name="Shape 2"/>
          <p:cNvSpPr/>
          <p:nvPr/>
        </p:nvSpPr>
        <p:spPr>
          <a:xfrm>
            <a:off x="8625840" y="1708785"/>
            <a:ext cx="3120390" cy="684657"/>
          </a:xfrm>
          <a:prstGeom prst="roundRect">
            <a:avLst>
              <a:gd name="adj" fmla="val 7368"/>
            </a:avLst>
          </a:prstGeom>
          <a:solidFill>
            <a:srgbClr val="E7F0DD"/>
          </a:solidFill>
          <a:ln/>
        </p:spPr>
      </p:sp>
      <p:sp>
        <p:nvSpPr>
          <p:cNvPr id="6" name="Text 3"/>
          <p:cNvSpPr/>
          <p:nvPr/>
        </p:nvSpPr>
        <p:spPr>
          <a:xfrm>
            <a:off x="8751570" y="1708785"/>
            <a:ext cx="3383280" cy="365760"/>
          </a:xfrm>
          <a:prstGeom prst="rect">
            <a:avLst/>
          </a:prstGeom>
          <a:noFill/>
          <a:ln/>
        </p:spPr>
        <p:txBody>
          <a:bodyPr wrap="square" rtlCol="0" anchor="ctr"/>
          <a:lstStyle/>
          <a:p>
            <a:pPr marL="0" indent="0">
              <a:buNone/>
            </a:pPr>
            <a:r>
              <a:rPr lang="en-US" sz="1500" b="1" dirty="0">
                <a:solidFill>
                  <a:srgbClr val="2C5F2D"/>
                </a:solidFill>
                <a:ea typeface="Cambria" pitchFamily="34" charset="-122"/>
                <a:cs typeface="Cambria" pitchFamily="34" charset="-120"/>
              </a:rPr>
              <a:t>Median: 39,530 hg/ha</a:t>
            </a:r>
            <a:endParaRPr lang="en-US" sz="1500" dirty="0"/>
          </a:p>
        </p:txBody>
      </p:sp>
      <p:sp>
        <p:nvSpPr>
          <p:cNvPr id="7" name="Text 4"/>
          <p:cNvSpPr/>
          <p:nvPr/>
        </p:nvSpPr>
        <p:spPr>
          <a:xfrm>
            <a:off x="8808720" y="2009394"/>
            <a:ext cx="3383280" cy="384048"/>
          </a:xfrm>
          <a:prstGeom prst="rect">
            <a:avLst/>
          </a:prstGeom>
          <a:noFill/>
          <a:ln/>
        </p:spPr>
        <p:txBody>
          <a:bodyPr wrap="square" rtlCol="0" anchor="ctr"/>
          <a:lstStyle/>
          <a:p>
            <a:pPr marL="0" indent="0">
              <a:buNone/>
            </a:pPr>
            <a:r>
              <a:rPr lang="en-US" sz="1150" b="1" dirty="0">
                <a:solidFill>
                  <a:srgbClr val="6B7266"/>
                </a:solidFill>
                <a:ea typeface="Calibri" pitchFamily="34" charset="-122"/>
                <a:cs typeface="Calibri" pitchFamily="34" charset="-120"/>
              </a:rPr>
              <a:t>well below the mean</a:t>
            </a:r>
            <a:endParaRPr lang="en-US" sz="1150" b="1" dirty="0"/>
          </a:p>
        </p:txBody>
      </p:sp>
      <p:sp>
        <p:nvSpPr>
          <p:cNvPr id="8" name="Shape 5"/>
          <p:cNvSpPr/>
          <p:nvPr/>
        </p:nvSpPr>
        <p:spPr>
          <a:xfrm>
            <a:off x="8625840" y="2778633"/>
            <a:ext cx="3120390" cy="635508"/>
          </a:xfrm>
          <a:prstGeom prst="roundRect">
            <a:avLst>
              <a:gd name="adj" fmla="val 7368"/>
            </a:avLst>
          </a:prstGeom>
          <a:solidFill>
            <a:srgbClr val="E7F0DD"/>
          </a:solidFill>
          <a:ln/>
        </p:spPr>
      </p:sp>
      <p:sp>
        <p:nvSpPr>
          <p:cNvPr id="9" name="Text 6"/>
          <p:cNvSpPr/>
          <p:nvPr/>
        </p:nvSpPr>
        <p:spPr>
          <a:xfrm>
            <a:off x="8808720" y="2849499"/>
            <a:ext cx="3383280" cy="365760"/>
          </a:xfrm>
          <a:prstGeom prst="rect">
            <a:avLst/>
          </a:prstGeom>
          <a:noFill/>
          <a:ln/>
        </p:spPr>
        <p:txBody>
          <a:bodyPr wrap="square" rtlCol="0" anchor="ctr"/>
          <a:lstStyle/>
          <a:p>
            <a:pPr marL="0" indent="0">
              <a:buNone/>
            </a:pPr>
            <a:r>
              <a:rPr lang="en-US" sz="1500" b="1" dirty="0">
                <a:solidFill>
                  <a:srgbClr val="2C5F2D"/>
                </a:solidFill>
                <a:ea typeface="Cambria" pitchFamily="34" charset="-122"/>
                <a:cs typeface="Cambria" pitchFamily="34" charset="-120"/>
              </a:rPr>
              <a:t>Mean: 76,978 hg/ha</a:t>
            </a:r>
            <a:endParaRPr lang="en-US" sz="1500" dirty="0"/>
          </a:p>
        </p:txBody>
      </p:sp>
      <p:sp>
        <p:nvSpPr>
          <p:cNvPr id="10" name="Text 7"/>
          <p:cNvSpPr/>
          <p:nvPr/>
        </p:nvSpPr>
        <p:spPr>
          <a:xfrm>
            <a:off x="8808720" y="3098673"/>
            <a:ext cx="3383280" cy="384048"/>
          </a:xfrm>
          <a:prstGeom prst="rect">
            <a:avLst/>
          </a:prstGeom>
          <a:noFill/>
          <a:ln/>
        </p:spPr>
        <p:txBody>
          <a:bodyPr wrap="square" rtlCol="0" anchor="ctr"/>
          <a:lstStyle/>
          <a:p>
            <a:pPr marL="0" indent="0">
              <a:buNone/>
            </a:pPr>
            <a:r>
              <a:rPr lang="en-US" sz="1200" b="1" dirty="0">
                <a:solidFill>
                  <a:srgbClr val="6B7266"/>
                </a:solidFill>
                <a:ea typeface="Calibri" pitchFamily="34" charset="-122"/>
                <a:cs typeface="Calibri" pitchFamily="34" charset="-120"/>
              </a:rPr>
              <a:t>pulled up by a long tail</a:t>
            </a:r>
            <a:endParaRPr lang="en-US" sz="1200" b="1" dirty="0"/>
          </a:p>
        </p:txBody>
      </p:sp>
      <p:sp>
        <p:nvSpPr>
          <p:cNvPr id="11" name="Shape 8"/>
          <p:cNvSpPr/>
          <p:nvPr/>
        </p:nvSpPr>
        <p:spPr>
          <a:xfrm>
            <a:off x="8625840" y="3757041"/>
            <a:ext cx="3211830" cy="626364"/>
          </a:xfrm>
          <a:prstGeom prst="roundRect">
            <a:avLst>
              <a:gd name="adj" fmla="val 7368"/>
            </a:avLst>
          </a:prstGeom>
          <a:solidFill>
            <a:srgbClr val="E7F0DD"/>
          </a:solidFill>
          <a:ln/>
        </p:spPr>
      </p:sp>
      <p:sp>
        <p:nvSpPr>
          <p:cNvPr id="12" name="Text 9"/>
          <p:cNvSpPr/>
          <p:nvPr/>
        </p:nvSpPr>
        <p:spPr>
          <a:xfrm>
            <a:off x="8808720" y="3757041"/>
            <a:ext cx="3383280" cy="365760"/>
          </a:xfrm>
          <a:prstGeom prst="rect">
            <a:avLst/>
          </a:prstGeom>
          <a:noFill/>
          <a:ln/>
        </p:spPr>
        <p:txBody>
          <a:bodyPr wrap="square" rtlCol="0" anchor="ctr"/>
          <a:lstStyle/>
          <a:p>
            <a:pPr marL="0" indent="0">
              <a:buNone/>
            </a:pPr>
            <a:r>
              <a:rPr lang="en-US" sz="1500" b="1" dirty="0">
                <a:solidFill>
                  <a:srgbClr val="2C5F2D"/>
                </a:solidFill>
                <a:ea typeface="Cambria" pitchFamily="34" charset="-122"/>
                <a:cs typeface="Cambria" pitchFamily="34" charset="-120"/>
              </a:rPr>
              <a:t>Skewness ≈ 1.81</a:t>
            </a:r>
            <a:endParaRPr lang="en-US" sz="1500" dirty="0"/>
          </a:p>
        </p:txBody>
      </p:sp>
      <p:sp>
        <p:nvSpPr>
          <p:cNvPr id="13" name="Text 10"/>
          <p:cNvSpPr/>
          <p:nvPr/>
        </p:nvSpPr>
        <p:spPr>
          <a:xfrm>
            <a:off x="8808720" y="3999357"/>
            <a:ext cx="3383280" cy="384048"/>
          </a:xfrm>
          <a:prstGeom prst="rect">
            <a:avLst/>
          </a:prstGeom>
          <a:noFill/>
          <a:ln/>
        </p:spPr>
        <p:txBody>
          <a:bodyPr wrap="square" rtlCol="0" anchor="ctr"/>
          <a:lstStyle/>
          <a:p>
            <a:pPr marL="0" indent="0">
              <a:buNone/>
            </a:pPr>
            <a:r>
              <a:rPr lang="en-US" sz="1200" b="1" dirty="0">
                <a:solidFill>
                  <a:srgbClr val="6B7266"/>
                </a:solidFill>
                <a:ea typeface="Calibri" pitchFamily="34" charset="-122"/>
                <a:cs typeface="Calibri" pitchFamily="34" charset="-120"/>
              </a:rPr>
              <a:t>high-yield root/tuber crops dominate the tail</a:t>
            </a:r>
            <a:endParaRPr lang="en-US" sz="1200" b="1" dirty="0"/>
          </a:p>
        </p:txBody>
      </p:sp>
      <p:sp>
        <p:nvSpPr>
          <p:cNvPr id="14" name="Shape 11"/>
          <p:cNvSpPr/>
          <p:nvPr/>
        </p:nvSpPr>
        <p:spPr>
          <a:xfrm>
            <a:off x="548640" y="5394960"/>
            <a:ext cx="11064240" cy="822960"/>
          </a:xfrm>
          <a:prstGeom prst="roundRect">
            <a:avLst>
              <a:gd name="adj" fmla="val 8889"/>
            </a:avLst>
          </a:prstGeom>
          <a:solidFill>
            <a:srgbClr val="E7F0DD"/>
          </a:solidFill>
          <a:ln/>
        </p:spPr>
      </p:sp>
      <p:sp>
        <p:nvSpPr>
          <p:cNvPr id="15" name="Text 12"/>
          <p:cNvSpPr/>
          <p:nvPr/>
        </p:nvSpPr>
        <p:spPr>
          <a:xfrm>
            <a:off x="822960" y="5394960"/>
            <a:ext cx="10515600" cy="822960"/>
          </a:xfrm>
          <a:prstGeom prst="rect">
            <a:avLst/>
          </a:prstGeom>
          <a:noFill/>
          <a:ln/>
        </p:spPr>
        <p:txBody>
          <a:bodyPr wrap="square" rtlCol="0" anchor="ctr"/>
          <a:lstStyle/>
          <a:p>
            <a:pPr marL="0" indent="0">
              <a:buNone/>
            </a:pPr>
            <a:r>
              <a:rPr lang="en-US" sz="1600" b="1" dirty="0">
                <a:solidFill>
                  <a:srgbClr val="2C5F2D"/>
                </a:solidFill>
                <a:ea typeface="Calibri" pitchFamily="34" charset="-122"/>
                <a:cs typeface="Calibri" pitchFamily="34" charset="-120"/>
              </a:rPr>
              <a:t>Implication:  </a:t>
            </a:r>
            <a:r>
              <a:rPr lang="en-US" sz="1600" b="1" dirty="0">
                <a:solidFill>
                  <a:srgbClr val="2A2E24"/>
                </a:solidFill>
                <a:ea typeface="Calibri" pitchFamily="34" charset="-122"/>
                <a:cs typeface="Calibri" pitchFamily="34" charset="-120"/>
              </a:rPr>
              <a:t>the skew (and the outliers, which reflect real crop biology, not errors) points toward tree-based models over plain linear regression for capturing yield's true shape.</a:t>
            </a:r>
            <a:endParaRPr lang="en-US" sz="1600" b="1" dirty="0"/>
          </a:p>
        </p:txBody>
      </p:sp>
      <p:sp>
        <p:nvSpPr>
          <p:cNvPr id="16" name="Text 13"/>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ea typeface="Calibri" pitchFamily="34" charset="-122"/>
                <a:cs typeface="Calibri" pitchFamily="34" charset="-120"/>
              </a:rPr>
              <a:t>Crop Yield Prediction  |  Capstone Project</a:t>
            </a:r>
            <a:endParaRPr lang="en-US" sz="1000" dirty="0"/>
          </a:p>
        </p:txBody>
      </p:sp>
      <p:sp>
        <p:nvSpPr>
          <p:cNvPr id="17" name="Text 1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ea typeface="Calibri" pitchFamily="34" charset="-122"/>
                <a:cs typeface="Calibri" pitchFamily="34" charset="-120"/>
              </a:rPr>
              <a:t>5</a:t>
            </a:r>
            <a:endParaRPr lang="en-US" sz="1000" dirty="0"/>
          </a:p>
        </p:txBody>
      </p:sp>
      <p:sp>
        <p:nvSpPr>
          <p:cNvPr id="18" name="Oval 17">
            <a:extLst>
              <a:ext uri="{FF2B5EF4-FFF2-40B4-BE49-F238E27FC236}">
                <a16:creationId xmlns:a16="http://schemas.microsoft.com/office/drawing/2014/main" id="{6F2FFB9F-0061-4B6D-68ED-6D3D7AE408EE}"/>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EXPLORATORY DATA ANALYSIS  ·  UNIVARIATE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Climate &amp; Input Variables Vary Widely</a:t>
            </a:r>
            <a:endParaRPr lang="en-US" sz="3000" dirty="0"/>
          </a:p>
        </p:txBody>
      </p:sp>
      <p:pic>
        <p:nvPicPr>
          <p:cNvPr id="4" name="Image 0" descr="/home/claude/imgs/cell79_3.png"/>
          <p:cNvPicPr>
            <a:picLocks noChangeAspect="1"/>
          </p:cNvPicPr>
          <p:nvPr/>
        </p:nvPicPr>
        <p:blipFill>
          <a:blip r:embed="rId3"/>
          <a:stretch>
            <a:fillRect/>
          </a:stretch>
        </p:blipFill>
        <p:spPr>
          <a:xfrm>
            <a:off x="548640" y="1172817"/>
            <a:ext cx="7680960" cy="3707793"/>
          </a:xfrm>
          <a:prstGeom prst="rect">
            <a:avLst/>
          </a:prstGeom>
        </p:spPr>
      </p:pic>
      <p:sp>
        <p:nvSpPr>
          <p:cNvPr id="5" name="Text 2"/>
          <p:cNvSpPr/>
          <p:nvPr/>
        </p:nvSpPr>
        <p:spPr>
          <a:xfrm>
            <a:off x="548640" y="4921758"/>
            <a:ext cx="7086600" cy="320040"/>
          </a:xfrm>
          <a:prstGeom prst="rect">
            <a:avLst/>
          </a:prstGeom>
          <a:noFill/>
          <a:ln/>
        </p:spPr>
        <p:txBody>
          <a:bodyPr wrap="square" rtlCol="0" anchor="ctr"/>
          <a:lstStyle/>
          <a:p>
            <a:pPr marL="0" indent="0" algn="ctr">
              <a:buNone/>
            </a:pPr>
            <a:r>
              <a:rPr lang="en-US" sz="1150" i="1" dirty="0">
                <a:solidFill>
                  <a:srgbClr val="6B7266"/>
                </a:solidFill>
                <a:latin typeface="Calibri" pitchFamily="34" charset="0"/>
                <a:ea typeface="Calibri" pitchFamily="34" charset="-122"/>
                <a:cs typeface="Calibri" pitchFamily="34" charset="-120"/>
              </a:rPr>
              <a:t>Pesticide usage (tonnes) — the most heavily skewed environmental variable</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796077528"/>
              </p:ext>
            </p:extLst>
          </p:nvPr>
        </p:nvGraphicFramePr>
        <p:xfrm>
          <a:off x="8376699" y="1788944"/>
          <a:ext cx="3703320" cy="2295144"/>
        </p:xfrm>
        <a:graphic>
          <a:graphicData uri="http://schemas.openxmlformats.org/drawingml/2006/table">
            <a:tbl>
              <a:tblPr/>
              <a:tblGrid>
                <a:gridCol w="9601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669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Range</a:t>
                      </a:r>
                      <a:endParaRPr lang="en-US" sz="115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Skew</a:t>
                      </a:r>
                      <a:endParaRPr lang="en-US" sz="115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Shape</a:t>
                      </a:r>
                      <a:endParaRPr lang="en-US" sz="115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66928">
                <a:tc>
                  <a:txBody>
                    <a:bodyPr/>
                    <a:lstStyle/>
                    <a:p>
                      <a:pPr marL="0" indent="0" algn="l">
                        <a:buNone/>
                      </a:pPr>
                      <a:r>
                        <a:rPr lang="en-US" sz="1100" b="1" dirty="0">
                          <a:solidFill>
                            <a:srgbClr val="2C5F2D"/>
                          </a:solidFill>
                          <a:latin typeface="Calibri" pitchFamily="34" charset="0"/>
                          <a:ea typeface="Calibri" pitchFamily="34" charset="-122"/>
                          <a:cs typeface="Calibri" pitchFamily="34" charset="-120"/>
                        </a:rPr>
                        <a:t>Rainfall</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51 – 3,240 mm/yr</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0.86</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Moderate right skew</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extLst>
                  <a:ext uri="{0D108BD9-81ED-4DB2-BD59-A6C34878D82A}">
                    <a16:rowId xmlns:a16="http://schemas.microsoft.com/office/drawing/2014/main" val="10001"/>
                  </a:ext>
                </a:extLst>
              </a:tr>
              <a:tr h="566928">
                <a:tc>
                  <a:txBody>
                    <a:bodyPr/>
                    <a:lstStyle/>
                    <a:p>
                      <a:pPr marL="0" indent="0" algn="l">
                        <a:buNone/>
                      </a:pPr>
                      <a:r>
                        <a:rPr lang="en-US" sz="1100" b="1" dirty="0">
                          <a:solidFill>
                            <a:srgbClr val="2C5F2D"/>
                          </a:solidFill>
                          <a:latin typeface="Calibri" pitchFamily="34" charset="0"/>
                          <a:ea typeface="Calibri" pitchFamily="34" charset="-122"/>
                          <a:cs typeface="Calibri" pitchFamily="34" charset="-120"/>
                        </a:rPr>
                        <a:t>Temperature</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1.3° – 30.7°C</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Mildly left skew (most symmetric)</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100" b="1" dirty="0">
                          <a:solidFill>
                            <a:srgbClr val="2C5F2D"/>
                          </a:solidFill>
                          <a:latin typeface="Calibri" pitchFamily="34" charset="0"/>
                          <a:ea typeface="Calibri" pitchFamily="34" charset="-122"/>
                          <a:cs typeface="Calibri" pitchFamily="34" charset="-120"/>
                        </a:rPr>
                        <a:t>Pesticides</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up to 367,778 t</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3.64</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100" dirty="0">
                          <a:solidFill>
                            <a:srgbClr val="2A2E24"/>
                          </a:solidFill>
                          <a:latin typeface="Calibri" pitchFamily="34" charset="0"/>
                          <a:ea typeface="Calibri" pitchFamily="34" charset="-122"/>
                          <a:cs typeface="Calibri" pitchFamily="34" charset="-120"/>
                        </a:rPr>
                        <a:t>Extreme right skew</a:t>
                      </a:r>
                      <a:endParaRPr lang="en-US" sz="11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8" name="Text 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6</a:t>
            </a:r>
            <a:endParaRPr lang="en-US" sz="1000" dirty="0"/>
          </a:p>
        </p:txBody>
      </p:sp>
      <p:sp>
        <p:nvSpPr>
          <p:cNvPr id="9" name="Shape 5"/>
          <p:cNvSpPr/>
          <p:nvPr/>
        </p:nvSpPr>
        <p:spPr>
          <a:xfrm>
            <a:off x="548640" y="5394960"/>
            <a:ext cx="11064240" cy="822960"/>
          </a:xfrm>
          <a:prstGeom prst="roundRect">
            <a:avLst>
              <a:gd name="adj" fmla="val 8889"/>
            </a:avLst>
          </a:prstGeom>
          <a:solidFill>
            <a:srgbClr val="E7F0DD"/>
          </a:solidFill>
          <a:ln/>
        </p:spPr>
      </p:sp>
      <p:sp>
        <p:nvSpPr>
          <p:cNvPr id="10" name="Text 6"/>
          <p:cNvSpPr/>
          <p:nvPr/>
        </p:nvSpPr>
        <p:spPr>
          <a:xfrm>
            <a:off x="822960" y="5394960"/>
            <a:ext cx="10515600" cy="82296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Implication: The wide variation and skewness observed in pesticide usage suggest that preprocessing and robust machine learning models are more appropriate than simple linear approaches.</a:t>
            </a:r>
            <a:endParaRPr lang="en-US" sz="1600" b="1" dirty="0"/>
          </a:p>
        </p:txBody>
      </p:sp>
      <p:sp>
        <p:nvSpPr>
          <p:cNvPr id="11" name="Oval 10">
            <a:extLst>
              <a:ext uri="{FF2B5EF4-FFF2-40B4-BE49-F238E27FC236}">
                <a16:creationId xmlns:a16="http://schemas.microsoft.com/office/drawing/2014/main" id="{3DD678AB-479B-5622-92C4-94BC0E3472AC}"/>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EXPLORATORY DATA ANALYSIS  ·  BIVARIATE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400" b="1" dirty="0">
                <a:solidFill>
                  <a:srgbClr val="2A2E24"/>
                </a:solidFill>
                <a:latin typeface="Cambria" pitchFamily="34" charset="0"/>
                <a:ea typeface="Cambria" pitchFamily="34" charset="-122"/>
                <a:cs typeface="Cambria" pitchFamily="34" charset="-120"/>
              </a:rPr>
              <a:t>Individual Climate Variables show Weak Relationships with Yield</a:t>
            </a:r>
            <a:endParaRPr lang="en-US" sz="3000" dirty="0"/>
          </a:p>
        </p:txBody>
      </p:sp>
      <p:pic>
        <p:nvPicPr>
          <p:cNvPr id="4" name="Image 0" descr="/home/claude/imgs/cell86_5.png"/>
          <p:cNvPicPr>
            <a:picLocks noChangeAspect="1"/>
          </p:cNvPicPr>
          <p:nvPr/>
        </p:nvPicPr>
        <p:blipFill>
          <a:blip r:embed="rId3"/>
          <a:stretch>
            <a:fillRect/>
          </a:stretch>
        </p:blipFill>
        <p:spPr>
          <a:xfrm>
            <a:off x="640080" y="1600200"/>
            <a:ext cx="5120640" cy="3337560"/>
          </a:xfrm>
          <a:prstGeom prst="rect">
            <a:avLst/>
          </a:prstGeom>
        </p:spPr>
      </p:pic>
      <p:sp>
        <p:nvSpPr>
          <p:cNvPr id="5" name="Text 2"/>
          <p:cNvSpPr/>
          <p:nvPr/>
        </p:nvSpPr>
        <p:spPr>
          <a:xfrm>
            <a:off x="640080" y="4956048"/>
            <a:ext cx="5120640" cy="292608"/>
          </a:xfrm>
          <a:prstGeom prst="rect">
            <a:avLst/>
          </a:prstGeom>
          <a:noFill/>
          <a:ln/>
        </p:spPr>
        <p:txBody>
          <a:bodyPr wrap="square" rtlCol="0" anchor="ctr"/>
          <a:lstStyle/>
          <a:p>
            <a:pPr marL="0" indent="0" algn="ctr">
              <a:buNone/>
            </a:pPr>
            <a:r>
              <a:rPr lang="en-US" sz="1150" i="1" dirty="0">
                <a:solidFill>
                  <a:srgbClr val="6B7266"/>
                </a:solidFill>
                <a:latin typeface="Calibri" pitchFamily="34" charset="0"/>
                <a:ea typeface="Calibri" pitchFamily="34" charset="-122"/>
                <a:cs typeface="Calibri" pitchFamily="34" charset="-120"/>
              </a:rPr>
              <a:t>Yield vs. Average Temperature</a:t>
            </a:r>
            <a:endParaRPr lang="en-US" sz="1150" dirty="0"/>
          </a:p>
        </p:txBody>
      </p:sp>
      <p:sp>
        <p:nvSpPr>
          <p:cNvPr id="6" name="Text 3"/>
          <p:cNvSpPr/>
          <p:nvPr/>
        </p:nvSpPr>
        <p:spPr>
          <a:xfrm>
            <a:off x="6126480" y="1691640"/>
            <a:ext cx="548640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Correlation with yield</a:t>
            </a:r>
            <a:endParaRPr lang="en-US" sz="1600" dirty="0"/>
          </a:p>
        </p:txBody>
      </p:sp>
      <p:sp>
        <p:nvSpPr>
          <p:cNvPr id="7" name="Shape 4"/>
          <p:cNvSpPr/>
          <p:nvPr/>
        </p:nvSpPr>
        <p:spPr>
          <a:xfrm>
            <a:off x="6126480" y="2148840"/>
            <a:ext cx="5486400" cy="960120"/>
          </a:xfrm>
          <a:prstGeom prst="roundRect">
            <a:avLst>
              <a:gd name="adj" fmla="val 6667"/>
            </a:avLst>
          </a:prstGeom>
          <a:solidFill>
            <a:srgbClr val="E7F0DD"/>
          </a:solidFill>
          <a:ln/>
        </p:spPr>
      </p:sp>
      <p:sp>
        <p:nvSpPr>
          <p:cNvPr id="8" name="Text 5"/>
          <p:cNvSpPr/>
          <p:nvPr/>
        </p:nvSpPr>
        <p:spPr>
          <a:xfrm>
            <a:off x="6309360" y="2221992"/>
            <a:ext cx="201168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Rainfall</a:t>
            </a:r>
            <a:endParaRPr lang="en-US" sz="1350" dirty="0"/>
          </a:p>
        </p:txBody>
      </p:sp>
      <p:sp>
        <p:nvSpPr>
          <p:cNvPr id="9" name="Text 6"/>
          <p:cNvSpPr/>
          <p:nvPr/>
        </p:nvSpPr>
        <p:spPr>
          <a:xfrm>
            <a:off x="6309360" y="2532888"/>
            <a:ext cx="2011680" cy="457200"/>
          </a:xfrm>
          <a:prstGeom prst="rect">
            <a:avLst/>
          </a:prstGeom>
          <a:noFill/>
          <a:ln/>
        </p:spPr>
        <p:txBody>
          <a:bodyPr wrap="square" rtlCol="0" anchor="ctr"/>
          <a:lstStyle/>
          <a:p>
            <a:pPr marL="0" indent="0">
              <a:buNone/>
            </a:pPr>
            <a:r>
              <a:rPr lang="en-US" sz="1800" b="1" dirty="0">
                <a:solidFill>
                  <a:srgbClr val="C68A2E"/>
                </a:solidFill>
                <a:latin typeface="Cambria" pitchFamily="34" charset="0"/>
                <a:ea typeface="Cambria" pitchFamily="34" charset="-122"/>
                <a:cs typeface="Cambria" pitchFamily="34" charset="-120"/>
              </a:rPr>
              <a:t>r ≈ -0.004</a:t>
            </a:r>
            <a:endParaRPr lang="en-US" sz="1800" dirty="0"/>
          </a:p>
        </p:txBody>
      </p:sp>
      <p:sp>
        <p:nvSpPr>
          <p:cNvPr id="10" name="Text 7"/>
          <p:cNvSpPr/>
          <p:nvPr/>
        </p:nvSpPr>
        <p:spPr>
          <a:xfrm>
            <a:off x="8412480" y="2240280"/>
            <a:ext cx="3063240" cy="777240"/>
          </a:xfrm>
          <a:prstGeom prst="rect">
            <a:avLst/>
          </a:prstGeom>
          <a:noFill/>
          <a:ln/>
        </p:spPr>
        <p:txBody>
          <a:bodyPr wrap="square" rtlCol="0" anchor="ctr"/>
          <a:lstStyle/>
          <a:p>
            <a:pPr marL="0" indent="0">
              <a:lnSpc>
                <a:spcPct val="110000"/>
              </a:lnSpc>
              <a:buNone/>
            </a:pPr>
            <a:r>
              <a:rPr lang="en-US" sz="1100" dirty="0">
                <a:solidFill>
                  <a:srgbClr val="6B7266"/>
                </a:solidFill>
                <a:latin typeface="Calibri" pitchFamily="34" charset="0"/>
                <a:ea typeface="Calibri" pitchFamily="34" charset="-122"/>
                <a:cs typeface="Calibri" pitchFamily="34" charset="-120"/>
              </a:rPr>
              <a:t>No visible linear pattern</a:t>
            </a:r>
            <a:endParaRPr lang="en-US" sz="1100" dirty="0"/>
          </a:p>
        </p:txBody>
      </p:sp>
      <p:sp>
        <p:nvSpPr>
          <p:cNvPr id="11" name="Shape 8"/>
          <p:cNvSpPr/>
          <p:nvPr/>
        </p:nvSpPr>
        <p:spPr>
          <a:xfrm>
            <a:off x="6126480" y="3264408"/>
            <a:ext cx="5486400" cy="960120"/>
          </a:xfrm>
          <a:prstGeom prst="roundRect">
            <a:avLst>
              <a:gd name="adj" fmla="val 6667"/>
            </a:avLst>
          </a:prstGeom>
          <a:solidFill>
            <a:srgbClr val="E7F0DD"/>
          </a:solidFill>
          <a:ln/>
        </p:spPr>
      </p:sp>
      <p:sp>
        <p:nvSpPr>
          <p:cNvPr id="12" name="Text 9"/>
          <p:cNvSpPr/>
          <p:nvPr/>
        </p:nvSpPr>
        <p:spPr>
          <a:xfrm>
            <a:off x="6309360" y="3337560"/>
            <a:ext cx="201168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Temperature</a:t>
            </a:r>
            <a:endParaRPr lang="en-US" sz="1350" dirty="0"/>
          </a:p>
        </p:txBody>
      </p:sp>
      <p:sp>
        <p:nvSpPr>
          <p:cNvPr id="13" name="Text 10"/>
          <p:cNvSpPr/>
          <p:nvPr/>
        </p:nvSpPr>
        <p:spPr>
          <a:xfrm>
            <a:off x="6309360" y="3648456"/>
            <a:ext cx="2011680" cy="457200"/>
          </a:xfrm>
          <a:prstGeom prst="rect">
            <a:avLst/>
          </a:prstGeom>
          <a:noFill/>
          <a:ln/>
        </p:spPr>
        <p:txBody>
          <a:bodyPr wrap="square" rtlCol="0" anchor="ctr"/>
          <a:lstStyle/>
          <a:p>
            <a:pPr marL="0" indent="0">
              <a:buNone/>
            </a:pPr>
            <a:r>
              <a:rPr lang="en-US" sz="1800" b="1" dirty="0">
                <a:solidFill>
                  <a:srgbClr val="C68A2E"/>
                </a:solidFill>
                <a:latin typeface="Cambria" pitchFamily="34" charset="0"/>
                <a:ea typeface="Cambria" pitchFamily="34" charset="-122"/>
                <a:cs typeface="Cambria" pitchFamily="34" charset="-120"/>
              </a:rPr>
              <a:t>r ≈ -0.11</a:t>
            </a:r>
            <a:endParaRPr lang="en-US" sz="1800" dirty="0"/>
          </a:p>
        </p:txBody>
      </p:sp>
      <p:sp>
        <p:nvSpPr>
          <p:cNvPr id="14" name="Text 11"/>
          <p:cNvSpPr/>
          <p:nvPr/>
        </p:nvSpPr>
        <p:spPr>
          <a:xfrm>
            <a:off x="8412480" y="3355848"/>
            <a:ext cx="3063240" cy="777240"/>
          </a:xfrm>
          <a:prstGeom prst="rect">
            <a:avLst/>
          </a:prstGeom>
          <a:noFill/>
          <a:ln/>
        </p:spPr>
        <p:txBody>
          <a:bodyPr wrap="square" rtlCol="0" anchor="ctr"/>
          <a:lstStyle/>
          <a:p>
            <a:pPr marL="0" indent="0">
              <a:lnSpc>
                <a:spcPct val="110000"/>
              </a:lnSpc>
              <a:buNone/>
            </a:pPr>
            <a:r>
              <a:rPr lang="en-US" sz="1100" dirty="0">
                <a:solidFill>
                  <a:srgbClr val="6B7266"/>
                </a:solidFill>
                <a:latin typeface="Calibri" pitchFamily="34" charset="0"/>
                <a:ea typeface="Calibri" pitchFamily="34" charset="-122"/>
                <a:cs typeface="Calibri" pitchFamily="34" charset="-120"/>
              </a:rPr>
              <a:t>Weakest, but strongest of the three — mild heat-stress signal</a:t>
            </a:r>
            <a:endParaRPr lang="en-US" sz="1100" dirty="0"/>
          </a:p>
        </p:txBody>
      </p:sp>
      <p:sp>
        <p:nvSpPr>
          <p:cNvPr id="15" name="Shape 12"/>
          <p:cNvSpPr/>
          <p:nvPr/>
        </p:nvSpPr>
        <p:spPr>
          <a:xfrm>
            <a:off x="6126480" y="4379976"/>
            <a:ext cx="5486400" cy="960120"/>
          </a:xfrm>
          <a:prstGeom prst="roundRect">
            <a:avLst>
              <a:gd name="adj" fmla="val 6667"/>
            </a:avLst>
          </a:prstGeom>
          <a:solidFill>
            <a:srgbClr val="E7F0DD"/>
          </a:solidFill>
          <a:ln/>
        </p:spPr>
      </p:sp>
      <p:sp>
        <p:nvSpPr>
          <p:cNvPr id="16" name="Text 13"/>
          <p:cNvSpPr/>
          <p:nvPr/>
        </p:nvSpPr>
        <p:spPr>
          <a:xfrm>
            <a:off x="6309360" y="4453128"/>
            <a:ext cx="201168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Pesticides</a:t>
            </a:r>
            <a:endParaRPr lang="en-US" sz="1350" dirty="0"/>
          </a:p>
        </p:txBody>
      </p:sp>
      <p:sp>
        <p:nvSpPr>
          <p:cNvPr id="17" name="Text 14"/>
          <p:cNvSpPr/>
          <p:nvPr/>
        </p:nvSpPr>
        <p:spPr>
          <a:xfrm>
            <a:off x="6309360" y="4764024"/>
            <a:ext cx="2011680" cy="457200"/>
          </a:xfrm>
          <a:prstGeom prst="rect">
            <a:avLst/>
          </a:prstGeom>
          <a:noFill/>
          <a:ln/>
        </p:spPr>
        <p:txBody>
          <a:bodyPr wrap="square" rtlCol="0" anchor="ctr"/>
          <a:lstStyle/>
          <a:p>
            <a:pPr marL="0" indent="0">
              <a:buNone/>
            </a:pPr>
            <a:r>
              <a:rPr lang="en-US" sz="1800" b="1" dirty="0">
                <a:solidFill>
                  <a:srgbClr val="C68A2E"/>
                </a:solidFill>
                <a:latin typeface="Cambria" pitchFamily="34" charset="0"/>
                <a:ea typeface="Cambria" pitchFamily="34" charset="-122"/>
                <a:cs typeface="Cambria" pitchFamily="34" charset="-120"/>
              </a:rPr>
              <a:t>r ≈ 0.07</a:t>
            </a:r>
            <a:endParaRPr lang="en-US" sz="1800" dirty="0"/>
          </a:p>
        </p:txBody>
      </p:sp>
      <p:sp>
        <p:nvSpPr>
          <p:cNvPr id="18" name="Text 15"/>
          <p:cNvSpPr/>
          <p:nvPr/>
        </p:nvSpPr>
        <p:spPr>
          <a:xfrm>
            <a:off x="8412480" y="4471416"/>
            <a:ext cx="3063240" cy="777240"/>
          </a:xfrm>
          <a:prstGeom prst="rect">
            <a:avLst/>
          </a:prstGeom>
          <a:noFill/>
          <a:ln/>
        </p:spPr>
        <p:txBody>
          <a:bodyPr wrap="square" rtlCol="0" anchor="ctr"/>
          <a:lstStyle/>
          <a:p>
            <a:pPr marL="0" indent="0">
              <a:lnSpc>
                <a:spcPct val="110000"/>
              </a:lnSpc>
              <a:buNone/>
            </a:pPr>
            <a:r>
              <a:rPr lang="en-US" sz="1100" dirty="0">
                <a:solidFill>
                  <a:srgbClr val="6B7266"/>
                </a:solidFill>
                <a:latin typeface="Calibri" pitchFamily="34" charset="0"/>
                <a:ea typeface="Calibri" pitchFamily="34" charset="-122"/>
                <a:cs typeface="Calibri" pitchFamily="34" charset="-120"/>
              </a:rPr>
              <a:t>Likely a scale confound (bigger countries, more of both)</a:t>
            </a:r>
            <a:endParaRPr lang="en-US" sz="1100" dirty="0"/>
          </a:p>
        </p:txBody>
      </p:sp>
      <p:sp>
        <p:nvSpPr>
          <p:cNvPr id="19" name="Text 16"/>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0" name="Text 1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7</a:t>
            </a:r>
            <a:endParaRPr lang="en-US" sz="1000" dirty="0"/>
          </a:p>
        </p:txBody>
      </p:sp>
      <p:sp>
        <p:nvSpPr>
          <p:cNvPr id="21" name="Oval 20">
            <a:extLst>
              <a:ext uri="{FF2B5EF4-FFF2-40B4-BE49-F238E27FC236}">
                <a16:creationId xmlns:a16="http://schemas.microsoft.com/office/drawing/2014/main" id="{A3430A3E-586F-056A-A7C2-D5BD5C208499}"/>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EXPLORATORY DATA ANALYSIS  ·  BIVARIATE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Crop Type &amp; Location Dominate Yield</a:t>
            </a:r>
            <a:endParaRPr lang="en-US" sz="3000" dirty="0"/>
          </a:p>
        </p:txBody>
      </p:sp>
      <p:pic>
        <p:nvPicPr>
          <p:cNvPr id="4" name="Image 0" descr="/home/claude/imgs/cell92_7.png"/>
          <p:cNvPicPr>
            <a:picLocks noChangeAspect="1"/>
          </p:cNvPicPr>
          <p:nvPr/>
        </p:nvPicPr>
        <p:blipFill>
          <a:blip r:embed="rId3"/>
          <a:stretch>
            <a:fillRect/>
          </a:stretch>
        </p:blipFill>
        <p:spPr>
          <a:xfrm>
            <a:off x="502920" y="1554480"/>
            <a:ext cx="5440680" cy="2697480"/>
          </a:xfrm>
          <a:prstGeom prst="rect">
            <a:avLst/>
          </a:prstGeom>
        </p:spPr>
      </p:pic>
      <p:sp>
        <p:nvSpPr>
          <p:cNvPr id="5" name="Text 2"/>
          <p:cNvSpPr/>
          <p:nvPr/>
        </p:nvSpPr>
        <p:spPr>
          <a:xfrm>
            <a:off x="502920" y="4251960"/>
            <a:ext cx="5440680" cy="274320"/>
          </a:xfrm>
          <a:prstGeom prst="rect">
            <a:avLst/>
          </a:prstGeom>
          <a:noFill/>
          <a:ln/>
        </p:spPr>
        <p:txBody>
          <a:bodyPr wrap="square" rtlCol="0" anchor="ctr"/>
          <a:lstStyle/>
          <a:p>
            <a:pPr marL="0" indent="0" algn="ctr">
              <a:buNone/>
            </a:pPr>
            <a:r>
              <a:rPr lang="en-US" sz="1150" i="1" dirty="0">
                <a:solidFill>
                  <a:srgbClr val="6B7266"/>
                </a:solidFill>
                <a:latin typeface="Calibri" pitchFamily="34" charset="0"/>
                <a:ea typeface="Calibri" pitchFamily="34" charset="-122"/>
                <a:cs typeface="Calibri" pitchFamily="34" charset="-120"/>
              </a:rPr>
              <a:t>Median yield by crop</a:t>
            </a:r>
            <a:endParaRPr lang="en-US" sz="1150" dirty="0"/>
          </a:p>
        </p:txBody>
      </p:sp>
      <p:pic>
        <p:nvPicPr>
          <p:cNvPr id="6" name="Image 1" descr="/home/claude/imgs/cell95_8.png"/>
          <p:cNvPicPr>
            <a:picLocks noChangeAspect="1"/>
          </p:cNvPicPr>
          <p:nvPr/>
        </p:nvPicPr>
        <p:blipFill>
          <a:blip r:embed="rId4"/>
          <a:stretch>
            <a:fillRect/>
          </a:stretch>
        </p:blipFill>
        <p:spPr>
          <a:xfrm>
            <a:off x="6217920" y="1554480"/>
            <a:ext cx="5440680" cy="2697480"/>
          </a:xfrm>
          <a:prstGeom prst="rect">
            <a:avLst/>
          </a:prstGeom>
        </p:spPr>
      </p:pic>
      <p:sp>
        <p:nvSpPr>
          <p:cNvPr id="7" name="Text 3"/>
          <p:cNvSpPr/>
          <p:nvPr/>
        </p:nvSpPr>
        <p:spPr>
          <a:xfrm>
            <a:off x="6217920" y="4251960"/>
            <a:ext cx="5440680" cy="274320"/>
          </a:xfrm>
          <a:prstGeom prst="rect">
            <a:avLst/>
          </a:prstGeom>
          <a:noFill/>
          <a:ln/>
        </p:spPr>
        <p:txBody>
          <a:bodyPr wrap="square" rtlCol="0" anchor="ctr"/>
          <a:lstStyle/>
          <a:p>
            <a:pPr marL="0" indent="0" algn="ctr">
              <a:buNone/>
            </a:pPr>
            <a:r>
              <a:rPr lang="en-US" sz="1150" i="1" dirty="0">
                <a:solidFill>
                  <a:srgbClr val="6B7266"/>
                </a:solidFill>
                <a:latin typeface="Calibri" pitchFamily="34" charset="0"/>
                <a:ea typeface="Calibri" pitchFamily="34" charset="-122"/>
                <a:cs typeface="Calibri" pitchFamily="34" charset="-120"/>
              </a:rPr>
              <a:t>Median yield — top 15 countries</a:t>
            </a:r>
            <a:endParaRPr lang="en-US" sz="1150" dirty="0"/>
          </a:p>
        </p:txBody>
      </p:sp>
      <p:sp>
        <p:nvSpPr>
          <p:cNvPr id="8" name="Shape 4"/>
          <p:cNvSpPr/>
          <p:nvPr/>
        </p:nvSpPr>
        <p:spPr>
          <a:xfrm>
            <a:off x="548640" y="4709160"/>
            <a:ext cx="11064240" cy="1508760"/>
          </a:xfrm>
          <a:prstGeom prst="roundRect">
            <a:avLst>
              <a:gd name="adj" fmla="val 4848"/>
            </a:avLst>
          </a:prstGeom>
          <a:solidFill>
            <a:srgbClr val="E7F0DD"/>
          </a:solidFill>
          <a:ln/>
        </p:spPr>
      </p:sp>
      <p:sp>
        <p:nvSpPr>
          <p:cNvPr id="9" name="Text 5"/>
          <p:cNvSpPr/>
          <p:nvPr/>
        </p:nvSpPr>
        <p:spPr>
          <a:xfrm>
            <a:off x="822960" y="4846320"/>
            <a:ext cx="10515600" cy="1280160"/>
          </a:xfrm>
          <a:prstGeom prst="rect">
            <a:avLst/>
          </a:prstGeom>
          <a:noFill/>
          <a:ln/>
        </p:spPr>
        <p:txBody>
          <a:bodyPr wrap="square" rtlCol="0" anchor="ctr"/>
          <a:lstStyle/>
          <a:p>
            <a:pPr marL="0" indent="0">
              <a:lnSpc>
                <a:spcPct val="120000"/>
              </a:lnSpc>
              <a:buNone/>
            </a:pPr>
            <a:r>
              <a:rPr lang="en-US" dirty="0">
                <a:solidFill>
                  <a:srgbClr val="2A2E24"/>
                </a:solidFill>
                <a:latin typeface="Calibri" pitchFamily="34" charset="0"/>
                <a:ea typeface="Calibri" pitchFamily="34" charset="-122"/>
                <a:cs typeface="Calibri" pitchFamily="34" charset="-120"/>
              </a:rPr>
              <a:t>Potatoes, cassava, sweet potatoes, yams and plantains post median yields </a:t>
            </a:r>
            <a:r>
              <a:rPr lang="en-US" b="1" dirty="0">
                <a:solidFill>
                  <a:srgbClr val="2C5F2D"/>
                </a:solidFill>
                <a:latin typeface="Calibri" pitchFamily="34" charset="0"/>
                <a:ea typeface="Calibri" pitchFamily="34" charset="-122"/>
                <a:cs typeface="Calibri" pitchFamily="34" charset="-120"/>
              </a:rPr>
              <a:t>3–6x higher</a:t>
            </a:r>
            <a:r>
              <a:rPr lang="en-US" dirty="0">
                <a:solidFill>
                  <a:srgbClr val="2A2E24"/>
                </a:solidFill>
                <a:latin typeface="Calibri" pitchFamily="34" charset="0"/>
                <a:ea typeface="Calibri" pitchFamily="34" charset="-122"/>
                <a:cs typeface="Calibri" pitchFamily="34" charset="-120"/>
              </a:rPr>
              <a:t> than cereals like wheat and sorghum (harvested weight), not farming superiority. </a:t>
            </a:r>
            <a:r>
              <a:rPr lang="en-US" b="1" dirty="0">
                <a:solidFill>
                  <a:srgbClr val="2C5F2D"/>
                </a:solidFill>
                <a:latin typeface="Calibri" pitchFamily="34" charset="0"/>
                <a:ea typeface="Calibri" pitchFamily="34" charset="-122"/>
                <a:cs typeface="Calibri" pitchFamily="34" charset="-120"/>
              </a:rPr>
              <a:t>Countries such as the United Kingdom, Ireland, and Sweden </a:t>
            </a:r>
            <a:r>
              <a:rPr lang="en-US" dirty="0">
                <a:solidFill>
                  <a:srgbClr val="2C5F2D"/>
                </a:solidFill>
                <a:latin typeface="Calibri" pitchFamily="34" charset="0"/>
                <a:ea typeface="Calibri" pitchFamily="34" charset="-122"/>
                <a:cs typeface="Calibri" pitchFamily="34" charset="-120"/>
              </a:rPr>
              <a:t>recorded the highest median crop yields in the dataset.</a:t>
            </a:r>
            <a:endParaRPr lang="en-US" dirty="0"/>
          </a:p>
        </p:txBody>
      </p:sp>
      <p:sp>
        <p:nvSpPr>
          <p:cNvPr id="10" name="Text 6"/>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11" name="Text 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8</a:t>
            </a:r>
            <a:endParaRPr lang="en-US" sz="1000" dirty="0"/>
          </a:p>
        </p:txBody>
      </p:sp>
      <p:sp>
        <p:nvSpPr>
          <p:cNvPr id="12" name="Oval 11">
            <a:extLst>
              <a:ext uri="{FF2B5EF4-FFF2-40B4-BE49-F238E27FC236}">
                <a16:creationId xmlns:a16="http://schemas.microsoft.com/office/drawing/2014/main" id="{71EE2FE9-680F-BAD9-ABC8-9CC8343EE26A}"/>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EXPLORATORY DATA ANALYSIS  ·  MULTIVARIATE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Weak Links Between Numeric Predictors</a:t>
            </a:r>
            <a:endParaRPr lang="en-US" sz="3000" dirty="0"/>
          </a:p>
        </p:txBody>
      </p:sp>
      <p:pic>
        <p:nvPicPr>
          <p:cNvPr id="4" name="Image 0" descr="/home/claude/imgs/cell102_9.png"/>
          <p:cNvPicPr>
            <a:picLocks noChangeAspect="1"/>
          </p:cNvPicPr>
          <p:nvPr/>
        </p:nvPicPr>
        <p:blipFill>
          <a:blip r:embed="rId3"/>
          <a:stretch>
            <a:fillRect/>
          </a:stretch>
        </p:blipFill>
        <p:spPr>
          <a:xfrm>
            <a:off x="63023" y="1554480"/>
            <a:ext cx="5789137" cy="4548608"/>
          </a:xfrm>
          <a:prstGeom prst="rect">
            <a:avLst/>
          </a:prstGeom>
        </p:spPr>
      </p:pic>
      <p:sp>
        <p:nvSpPr>
          <p:cNvPr id="5" name="Text 2"/>
          <p:cNvSpPr/>
          <p:nvPr/>
        </p:nvSpPr>
        <p:spPr>
          <a:xfrm>
            <a:off x="7613975" y="1737360"/>
            <a:ext cx="539496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What the heatmap tells us</a:t>
            </a:r>
            <a:endParaRPr lang="en-US" sz="1600" dirty="0"/>
          </a:p>
        </p:txBody>
      </p:sp>
      <p:sp>
        <p:nvSpPr>
          <p:cNvPr id="6" name="Text 3"/>
          <p:cNvSpPr/>
          <p:nvPr/>
        </p:nvSpPr>
        <p:spPr>
          <a:xfrm>
            <a:off x="6263639" y="1994667"/>
            <a:ext cx="5612927" cy="2681531"/>
          </a:xfrm>
          <a:prstGeom prst="rect">
            <a:avLst/>
          </a:prstGeom>
          <a:noFill/>
          <a:ln>
            <a:solidFill>
              <a:schemeClr val="bg1">
                <a:lumMod val="95000"/>
              </a:schemeClr>
            </a:solidFill>
          </a:ln>
        </p:spPr>
        <p:txBody>
          <a:bodyPr wrap="square" rtlCol="0" anchor="ctr"/>
          <a:lstStyle/>
          <a:p>
            <a:pPr algn="just">
              <a:lnSpc>
                <a:spcPct val="125000"/>
              </a:lnSpc>
              <a:spcAft>
                <a:spcPts val="1200"/>
              </a:spcAft>
            </a:pPr>
            <a:r>
              <a:rPr lang="en-US" sz="1400" b="1" dirty="0">
                <a:solidFill>
                  <a:srgbClr val="2A2E24"/>
                </a:solidFill>
                <a:latin typeface="Calibri" pitchFamily="34" charset="0"/>
                <a:ea typeface="Calibri" pitchFamily="34" charset="-122"/>
                <a:cs typeface="Calibri" pitchFamily="34" charset="-120"/>
              </a:rPr>
              <a:t>No numeric variable correlates strongly with yield - temperature (-0.11) is the strongest.</a:t>
            </a:r>
            <a:endParaRPr lang="en-US" sz="1400" b="1" dirty="0"/>
          </a:p>
          <a:p>
            <a:pPr algn="just">
              <a:lnSpc>
                <a:spcPct val="125000"/>
              </a:lnSpc>
              <a:spcAft>
                <a:spcPts val="1200"/>
              </a:spcAft>
            </a:pPr>
            <a:r>
              <a:rPr lang="en-US" sz="1400" b="1" dirty="0">
                <a:solidFill>
                  <a:srgbClr val="2A2E24"/>
                </a:solidFill>
                <a:latin typeface="Calibri" pitchFamily="34" charset="0"/>
                <a:ea typeface="Calibri" pitchFamily="34" charset="-122"/>
                <a:cs typeface="Calibri" pitchFamily="34" charset="-120"/>
              </a:rPr>
              <a:t>Rainfall and temperature correlate more with each other (r ≈ 0.33) than either does with yield - shared climate-zone structure.</a:t>
            </a:r>
            <a:endParaRPr lang="en-US" sz="1400" b="1" dirty="0"/>
          </a:p>
          <a:p>
            <a:pPr algn="just">
              <a:lnSpc>
                <a:spcPct val="125000"/>
              </a:lnSpc>
              <a:spcAft>
                <a:spcPts val="1200"/>
              </a:spcAft>
            </a:pPr>
            <a:r>
              <a:rPr lang="en-US" sz="1400" b="1" dirty="0">
                <a:solidFill>
                  <a:srgbClr val="2A2E24"/>
                </a:solidFill>
                <a:latin typeface="Calibri" pitchFamily="34" charset="0"/>
                <a:ea typeface="Calibri" pitchFamily="34" charset="-122"/>
                <a:cs typeface="Calibri" pitchFamily="34" charset="-120"/>
              </a:rPr>
              <a:t>Low correlation among predictors is good news for modelling: multicollinearity is unlikely to be a major issue.</a:t>
            </a:r>
            <a:endParaRPr lang="en-US" sz="1400" b="1" dirty="0"/>
          </a:p>
          <a:p>
            <a:pPr algn="just">
              <a:lnSpc>
                <a:spcPct val="125000"/>
              </a:lnSpc>
              <a:spcAft>
                <a:spcPts val="1200"/>
              </a:spcAft>
            </a:pPr>
            <a:r>
              <a:rPr lang="en-US" sz="1400" b="1" dirty="0">
                <a:solidFill>
                  <a:srgbClr val="2A2E24"/>
                </a:solidFill>
                <a:latin typeface="Calibri" pitchFamily="34" charset="0"/>
                <a:ea typeface="Calibri" pitchFamily="34" charset="-122"/>
                <a:cs typeface="Calibri" pitchFamily="34" charset="-120"/>
              </a:rPr>
              <a:t>Since raw climate variables explain so little on their own, categorical variables (Item, Area) should carry most of the predictive power.</a:t>
            </a:r>
            <a:endParaRPr lang="en-US" sz="1400" b="1"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9</a:t>
            </a:r>
            <a:endParaRPr lang="en-US" sz="1000" dirty="0"/>
          </a:p>
        </p:txBody>
      </p:sp>
      <p:sp>
        <p:nvSpPr>
          <p:cNvPr id="9" name="Oval 8">
            <a:extLst>
              <a:ext uri="{FF2B5EF4-FFF2-40B4-BE49-F238E27FC236}">
                <a16:creationId xmlns:a16="http://schemas.microsoft.com/office/drawing/2014/main" id="{0307825D-AE4D-2141-D292-9BB9A552EAEC}"/>
              </a:ext>
            </a:extLst>
          </p:cNvPr>
          <p:cNvSpPr/>
          <p:nvPr/>
        </p:nvSpPr>
        <p:spPr>
          <a:xfrm>
            <a:off x="5767578" y="6228456"/>
            <a:ext cx="685038"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1E"/>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65760"/>
          </a:xfrm>
          <a:prstGeom prst="rect">
            <a:avLst/>
          </a:prstGeom>
          <a:noFill/>
          <a:ln/>
        </p:spPr>
        <p:txBody>
          <a:bodyPr wrap="square" rtlCol="0" anchor="ctr"/>
          <a:lstStyle/>
          <a:p>
            <a:pPr marL="0" indent="0">
              <a:buNone/>
            </a:pPr>
            <a:r>
              <a:rPr lang="en-US" sz="1300" b="1" kern="0" spc="150" dirty="0">
                <a:solidFill>
                  <a:srgbClr val="C68A2E"/>
                </a:solidFill>
                <a:latin typeface="Calibri" pitchFamily="34" charset="0"/>
                <a:ea typeface="Calibri" pitchFamily="34" charset="-122"/>
                <a:cs typeface="Calibri" pitchFamily="34" charset="-120"/>
              </a:rPr>
              <a:t>EDA — KEY TAKEAWAYS</a:t>
            </a:r>
            <a:endParaRPr lang="en-US" sz="1300" dirty="0"/>
          </a:p>
        </p:txBody>
      </p:sp>
      <p:sp>
        <p:nvSpPr>
          <p:cNvPr id="3" name="Text 1"/>
          <p:cNvSpPr/>
          <p:nvPr/>
        </p:nvSpPr>
        <p:spPr>
          <a:xfrm>
            <a:off x="548640" y="868680"/>
            <a:ext cx="109728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the Data Told Us Before Modelling</a:t>
            </a:r>
            <a:endParaRPr lang="en-US" sz="2800" dirty="0"/>
          </a:p>
        </p:txBody>
      </p:sp>
      <p:sp>
        <p:nvSpPr>
          <p:cNvPr id="4" name="Shape 2"/>
          <p:cNvSpPr/>
          <p:nvPr/>
        </p:nvSpPr>
        <p:spPr>
          <a:xfrm>
            <a:off x="548640" y="1828800"/>
            <a:ext cx="2724912" cy="3794760"/>
          </a:xfrm>
          <a:prstGeom prst="roundRect">
            <a:avLst>
              <a:gd name="adj" fmla="val 2685"/>
            </a:avLst>
          </a:prstGeom>
          <a:solidFill>
            <a:srgbClr val="2C5F2D"/>
          </a:solidFill>
          <a:ln/>
        </p:spPr>
      </p:sp>
      <p:sp>
        <p:nvSpPr>
          <p:cNvPr id="5" name="Shape 3"/>
          <p:cNvSpPr/>
          <p:nvPr/>
        </p:nvSpPr>
        <p:spPr>
          <a:xfrm>
            <a:off x="749808" y="2057400"/>
            <a:ext cx="2322576" cy="54864"/>
          </a:xfrm>
          <a:prstGeom prst="roundRect">
            <a:avLst/>
          </a:prstGeom>
          <a:solidFill>
            <a:srgbClr val="C68A2E"/>
          </a:solidFill>
          <a:ln/>
        </p:spPr>
      </p:sp>
      <p:sp>
        <p:nvSpPr>
          <p:cNvPr id="6" name="Text 4"/>
          <p:cNvSpPr/>
          <p:nvPr/>
        </p:nvSpPr>
        <p:spPr>
          <a:xfrm>
            <a:off x="749808" y="2240280"/>
            <a:ext cx="2322576" cy="685800"/>
          </a:xfrm>
          <a:prstGeom prst="rect">
            <a:avLst/>
          </a:prstGeom>
          <a:noFill/>
          <a:ln/>
        </p:spPr>
        <p:txBody>
          <a:bodyPr wrap="square"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Yield is skewed</a:t>
            </a:r>
            <a:endParaRPr lang="en-US" sz="1600" dirty="0"/>
          </a:p>
        </p:txBody>
      </p:sp>
      <p:sp>
        <p:nvSpPr>
          <p:cNvPr id="7" name="Text 5"/>
          <p:cNvSpPr/>
          <p:nvPr/>
        </p:nvSpPr>
        <p:spPr>
          <a:xfrm>
            <a:off x="749808" y="2937670"/>
            <a:ext cx="2468880" cy="1467293"/>
          </a:xfrm>
          <a:prstGeom prst="rect">
            <a:avLst/>
          </a:prstGeom>
          <a:noFill/>
          <a:ln/>
        </p:spPr>
        <p:txBody>
          <a:bodyPr wrap="square" rtlCol="0" anchor="ctr"/>
          <a:lstStyle/>
          <a:p>
            <a:pPr marL="0" indent="0">
              <a:lnSpc>
                <a:spcPct val="120000"/>
              </a:lnSpc>
              <a:buNone/>
            </a:pPr>
            <a:r>
              <a:rPr lang="en-US" sz="1400" b="1" dirty="0">
                <a:solidFill>
                  <a:srgbClr val="E7F0DD"/>
                </a:solidFill>
                <a:latin typeface="Calibri" pitchFamily="34" charset="0"/>
                <a:ea typeface="Calibri" pitchFamily="34" charset="-122"/>
                <a:cs typeface="Calibri" pitchFamily="34" charset="-120"/>
              </a:rPr>
              <a:t>Right-skewed target (skew ≈ 1.81).</a:t>
            </a:r>
            <a:endParaRPr lang="en-US" sz="1400" b="1" dirty="0"/>
          </a:p>
        </p:txBody>
      </p:sp>
      <p:sp>
        <p:nvSpPr>
          <p:cNvPr id="8" name="Shape 6"/>
          <p:cNvSpPr/>
          <p:nvPr/>
        </p:nvSpPr>
        <p:spPr>
          <a:xfrm>
            <a:off x="3419856" y="1828800"/>
            <a:ext cx="2724912" cy="3794760"/>
          </a:xfrm>
          <a:prstGeom prst="roundRect">
            <a:avLst>
              <a:gd name="adj" fmla="val 2685"/>
            </a:avLst>
          </a:prstGeom>
          <a:solidFill>
            <a:srgbClr val="2C5F2D"/>
          </a:solidFill>
          <a:ln/>
        </p:spPr>
      </p:sp>
      <p:sp>
        <p:nvSpPr>
          <p:cNvPr id="9" name="Shape 7"/>
          <p:cNvSpPr/>
          <p:nvPr/>
        </p:nvSpPr>
        <p:spPr>
          <a:xfrm>
            <a:off x="3621024" y="2057400"/>
            <a:ext cx="2322576" cy="54864"/>
          </a:xfrm>
          <a:prstGeom prst="roundRect">
            <a:avLst/>
          </a:prstGeom>
          <a:solidFill>
            <a:srgbClr val="C68A2E"/>
          </a:solidFill>
          <a:ln/>
        </p:spPr>
      </p:sp>
      <p:sp>
        <p:nvSpPr>
          <p:cNvPr id="10" name="Text 8"/>
          <p:cNvSpPr/>
          <p:nvPr/>
        </p:nvSpPr>
        <p:spPr>
          <a:xfrm>
            <a:off x="3621024" y="2240280"/>
            <a:ext cx="2322576" cy="685800"/>
          </a:xfrm>
          <a:prstGeom prst="rect">
            <a:avLst/>
          </a:prstGeom>
          <a:noFill/>
          <a:ln/>
        </p:spPr>
        <p:txBody>
          <a:bodyPr wrap="square"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Crop &amp; country dominate</a:t>
            </a:r>
            <a:endParaRPr lang="en-US" sz="1600" dirty="0"/>
          </a:p>
        </p:txBody>
      </p:sp>
      <p:sp>
        <p:nvSpPr>
          <p:cNvPr id="11" name="Text 9"/>
          <p:cNvSpPr/>
          <p:nvPr/>
        </p:nvSpPr>
        <p:spPr>
          <a:xfrm>
            <a:off x="3621024" y="2926080"/>
            <a:ext cx="2322576" cy="1773511"/>
          </a:xfrm>
          <a:prstGeom prst="rect">
            <a:avLst/>
          </a:prstGeom>
          <a:noFill/>
          <a:ln/>
        </p:spPr>
        <p:txBody>
          <a:bodyPr wrap="square" rtlCol="0" anchor="ctr"/>
          <a:lstStyle/>
          <a:p>
            <a:pPr marL="0" indent="0">
              <a:lnSpc>
                <a:spcPct val="120000"/>
              </a:lnSpc>
              <a:buNone/>
            </a:pPr>
            <a:r>
              <a:rPr lang="en-US" sz="1400" b="1" dirty="0">
                <a:solidFill>
                  <a:srgbClr val="E7F0DD"/>
                </a:solidFill>
                <a:latin typeface="Calibri" pitchFamily="34" charset="0"/>
                <a:ea typeface="Calibri" pitchFamily="34" charset="-122"/>
                <a:cs typeface="Calibri" pitchFamily="34" charset="-120"/>
              </a:rPr>
              <a:t>Item and Area explain far more variation than any single climate reading.</a:t>
            </a:r>
            <a:endParaRPr lang="en-US" sz="1400" b="1" dirty="0"/>
          </a:p>
        </p:txBody>
      </p:sp>
      <p:sp>
        <p:nvSpPr>
          <p:cNvPr id="12" name="Shape 10"/>
          <p:cNvSpPr/>
          <p:nvPr/>
        </p:nvSpPr>
        <p:spPr>
          <a:xfrm>
            <a:off x="6291072" y="1828800"/>
            <a:ext cx="2724912" cy="3794760"/>
          </a:xfrm>
          <a:prstGeom prst="roundRect">
            <a:avLst>
              <a:gd name="adj" fmla="val 2685"/>
            </a:avLst>
          </a:prstGeom>
          <a:solidFill>
            <a:srgbClr val="2C5F2D"/>
          </a:solidFill>
          <a:ln/>
        </p:spPr>
      </p:sp>
      <p:sp>
        <p:nvSpPr>
          <p:cNvPr id="13" name="Shape 11"/>
          <p:cNvSpPr/>
          <p:nvPr/>
        </p:nvSpPr>
        <p:spPr>
          <a:xfrm>
            <a:off x="6492240" y="2057400"/>
            <a:ext cx="2322576" cy="54864"/>
          </a:xfrm>
          <a:prstGeom prst="roundRect">
            <a:avLst/>
          </a:prstGeom>
          <a:solidFill>
            <a:srgbClr val="C68A2E"/>
          </a:solidFill>
          <a:ln/>
        </p:spPr>
      </p:sp>
      <p:sp>
        <p:nvSpPr>
          <p:cNvPr id="14" name="Text 12"/>
          <p:cNvSpPr/>
          <p:nvPr/>
        </p:nvSpPr>
        <p:spPr>
          <a:xfrm>
            <a:off x="6492240" y="2240280"/>
            <a:ext cx="2322576" cy="685800"/>
          </a:xfrm>
          <a:prstGeom prst="rect">
            <a:avLst/>
          </a:prstGeom>
          <a:noFill/>
          <a:ln/>
        </p:spPr>
        <p:txBody>
          <a:bodyPr wrap="square"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Climate is complementary</a:t>
            </a:r>
            <a:endParaRPr lang="en-US" sz="1600" dirty="0"/>
          </a:p>
        </p:txBody>
      </p:sp>
      <p:sp>
        <p:nvSpPr>
          <p:cNvPr id="15" name="Text 13"/>
          <p:cNvSpPr/>
          <p:nvPr/>
        </p:nvSpPr>
        <p:spPr>
          <a:xfrm>
            <a:off x="6492240" y="3263132"/>
            <a:ext cx="2322576" cy="1709928"/>
          </a:xfrm>
          <a:prstGeom prst="rect">
            <a:avLst/>
          </a:prstGeom>
          <a:noFill/>
          <a:ln/>
        </p:spPr>
        <p:txBody>
          <a:bodyPr wrap="square" rtlCol="0" anchor="ctr"/>
          <a:lstStyle/>
          <a:p>
            <a:pPr marL="0" indent="0">
              <a:lnSpc>
                <a:spcPct val="120000"/>
              </a:lnSpc>
              <a:buNone/>
            </a:pPr>
            <a:r>
              <a:rPr lang="en-US" sz="1400" b="1" dirty="0">
                <a:solidFill>
                  <a:srgbClr val="E7F0DD"/>
                </a:solidFill>
                <a:latin typeface="Calibri" pitchFamily="34" charset="0"/>
                <a:ea typeface="Calibri" pitchFamily="34" charset="-122"/>
                <a:cs typeface="Calibri" pitchFamily="34" charset="-120"/>
              </a:rPr>
              <a:t>Rainfall, temperature and pesticide use carry weak individual signal but add nuance once crop/location are known.</a:t>
            </a:r>
            <a:endParaRPr lang="en-US" sz="1400" b="1" dirty="0"/>
          </a:p>
        </p:txBody>
      </p:sp>
      <p:sp>
        <p:nvSpPr>
          <p:cNvPr id="16" name="Shape 14"/>
          <p:cNvSpPr/>
          <p:nvPr/>
        </p:nvSpPr>
        <p:spPr>
          <a:xfrm>
            <a:off x="9162288" y="1828800"/>
            <a:ext cx="2724912" cy="3794760"/>
          </a:xfrm>
          <a:prstGeom prst="roundRect">
            <a:avLst>
              <a:gd name="adj" fmla="val 2685"/>
            </a:avLst>
          </a:prstGeom>
          <a:solidFill>
            <a:srgbClr val="2C5F2D"/>
          </a:solidFill>
          <a:ln/>
        </p:spPr>
      </p:sp>
      <p:sp>
        <p:nvSpPr>
          <p:cNvPr id="17" name="Shape 15"/>
          <p:cNvSpPr/>
          <p:nvPr/>
        </p:nvSpPr>
        <p:spPr>
          <a:xfrm>
            <a:off x="9363456" y="2057400"/>
            <a:ext cx="2322576" cy="54864"/>
          </a:xfrm>
          <a:prstGeom prst="roundRect">
            <a:avLst/>
          </a:prstGeom>
          <a:solidFill>
            <a:srgbClr val="C68A2E"/>
          </a:solidFill>
          <a:ln/>
        </p:spPr>
      </p:sp>
      <p:sp>
        <p:nvSpPr>
          <p:cNvPr id="18" name="Text 16"/>
          <p:cNvSpPr/>
          <p:nvPr/>
        </p:nvSpPr>
        <p:spPr>
          <a:xfrm>
            <a:off x="9363456" y="2240280"/>
            <a:ext cx="2322576" cy="685800"/>
          </a:xfrm>
          <a:prstGeom prst="rect">
            <a:avLst/>
          </a:prstGeom>
          <a:noFill/>
          <a:ln/>
        </p:spPr>
        <p:txBody>
          <a:bodyPr wrap="square" rtlCol="0" anchor="ctr"/>
          <a:lstStyle/>
          <a:p>
            <a:pPr marL="0" indent="0">
              <a:lnSpc>
                <a:spcPct val="105000"/>
              </a:lnSpc>
              <a:buNone/>
            </a:pPr>
            <a:r>
              <a:rPr lang="en-US" sz="1600" b="1" dirty="0">
                <a:solidFill>
                  <a:srgbClr val="FFFFFF"/>
                </a:solidFill>
                <a:latin typeface="Cambria" pitchFamily="34" charset="0"/>
                <a:ea typeface="Cambria" pitchFamily="34" charset="-122"/>
                <a:cs typeface="Cambria" pitchFamily="34" charset="-120"/>
              </a:rPr>
              <a:t>Time trend exists</a:t>
            </a:r>
            <a:endParaRPr lang="en-US" sz="1600" dirty="0"/>
          </a:p>
        </p:txBody>
      </p:sp>
      <p:sp>
        <p:nvSpPr>
          <p:cNvPr id="19" name="Text 17"/>
          <p:cNvSpPr/>
          <p:nvPr/>
        </p:nvSpPr>
        <p:spPr>
          <a:xfrm>
            <a:off x="9363456" y="3136498"/>
            <a:ext cx="2322576" cy="1773511"/>
          </a:xfrm>
          <a:prstGeom prst="rect">
            <a:avLst/>
          </a:prstGeom>
          <a:noFill/>
          <a:ln/>
        </p:spPr>
        <p:txBody>
          <a:bodyPr wrap="square" rtlCol="0" anchor="ctr"/>
          <a:lstStyle/>
          <a:p>
            <a:pPr marL="0" indent="0">
              <a:lnSpc>
                <a:spcPct val="120000"/>
              </a:lnSpc>
              <a:buNone/>
            </a:pPr>
            <a:r>
              <a:rPr lang="en-US" sz="1400" b="1" dirty="0">
                <a:solidFill>
                  <a:srgbClr val="E7F0DD"/>
                </a:solidFill>
                <a:latin typeface="Calibri" pitchFamily="34" charset="0"/>
                <a:ea typeface="Calibri" pitchFamily="34" charset="-122"/>
                <a:cs typeface="Calibri" pitchFamily="34" charset="-120"/>
              </a:rPr>
              <a:t>Yield shifts across the 23-year window - Year is worth retaining as a proxy for technology and practice change.</a:t>
            </a:r>
            <a:endParaRPr lang="en-US" sz="1400" b="1" dirty="0"/>
          </a:p>
        </p:txBody>
      </p:sp>
      <p:sp>
        <p:nvSpPr>
          <p:cNvPr id="20" name="Text 18"/>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10</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E7F0DD"/>
                </a:solidFill>
                <a:latin typeface="Calibri" pitchFamily="34" charset="0"/>
                <a:ea typeface="Calibri" pitchFamily="34" charset="-122"/>
                <a:cs typeface="Calibri" pitchFamily="34" charset="-120"/>
              </a:rPr>
              <a:t>10</a:t>
            </a:r>
            <a:endParaRPr lang="en-US" sz="1000" dirty="0"/>
          </a:p>
        </p:txBody>
      </p:sp>
      <p:sp>
        <p:nvSpPr>
          <p:cNvPr id="23" name="Text 21"/>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E7F0DD"/>
                </a:solidFill>
                <a:latin typeface="Calibri" pitchFamily="34" charset="0"/>
                <a:ea typeface="Calibri" pitchFamily="34" charset="-122"/>
                <a:cs typeface="Calibri" pitchFamily="34" charset="-120"/>
              </a:rPr>
              <a:t>Crop Yield Prediction  |  Capstone Project</a:t>
            </a:r>
            <a:endParaRPr lang="en-US" sz="1000" dirty="0"/>
          </a:p>
        </p:txBody>
      </p:sp>
      <p:sp>
        <p:nvSpPr>
          <p:cNvPr id="24" name="Oval 23">
            <a:extLst>
              <a:ext uri="{FF2B5EF4-FFF2-40B4-BE49-F238E27FC236}">
                <a16:creationId xmlns:a16="http://schemas.microsoft.com/office/drawing/2014/main" id="{AC8F151A-7695-6B73-52E5-142195987DE9}"/>
              </a:ext>
            </a:extLst>
          </p:cNvPr>
          <p:cNvSpPr/>
          <p:nvPr/>
        </p:nvSpPr>
        <p:spPr>
          <a:xfrm>
            <a:off x="5767577" y="6109584"/>
            <a:ext cx="930935" cy="640080"/>
          </a:xfrm>
          <a:prstGeom prst="ellipse">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accent6">
                    <a:lumMod val="50000"/>
                  </a:schemeClr>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PREDICTIVE MODELLING</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From Features to Forecast</a:t>
            </a:r>
            <a:endParaRPr lang="en-US" sz="3000" dirty="0"/>
          </a:p>
        </p:txBody>
      </p:sp>
      <p:sp>
        <p:nvSpPr>
          <p:cNvPr id="4" name="Text 2"/>
          <p:cNvSpPr/>
          <p:nvPr/>
        </p:nvSpPr>
        <p:spPr>
          <a:xfrm>
            <a:off x="548640" y="1554480"/>
            <a:ext cx="530352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Preprocessing</a:t>
            </a:r>
            <a:endParaRPr lang="en-US" sz="1600" dirty="0"/>
          </a:p>
        </p:txBody>
      </p:sp>
      <p:sp>
        <p:nvSpPr>
          <p:cNvPr id="5" name="Text 3"/>
          <p:cNvSpPr/>
          <p:nvPr/>
        </p:nvSpPr>
        <p:spPr>
          <a:xfrm>
            <a:off x="304800" y="1997964"/>
            <a:ext cx="5547360" cy="2377440"/>
          </a:xfrm>
          <a:prstGeom prst="rect">
            <a:avLst/>
          </a:prstGeom>
          <a:noFill/>
          <a:ln/>
        </p:spPr>
        <p:txBody>
          <a:bodyPr wrap="square" rtlCol="0" anchor="ctr"/>
          <a:lstStyle/>
          <a:p>
            <a:pPr marL="285750" indent="-285750">
              <a:lnSpc>
                <a:spcPct val="125000"/>
              </a:lnSpc>
              <a:spcAft>
                <a:spcPts val="1000"/>
              </a:spcAft>
              <a:buFont typeface="Arial" panose="020B0604020202020204" pitchFamily="34" charset="0"/>
              <a:buChar char="•"/>
            </a:pPr>
            <a:r>
              <a:rPr lang="en-US" sz="1600" b="1" dirty="0">
                <a:solidFill>
                  <a:srgbClr val="2A2E24"/>
                </a:solidFill>
                <a:latin typeface="Calibri" pitchFamily="34" charset="0"/>
                <a:ea typeface="Calibri" pitchFamily="34" charset="-122"/>
                <a:cs typeface="Calibri" pitchFamily="34" charset="-120"/>
              </a:rPr>
              <a:t>One-Hot Encoding converts Area and Item into numeric indicators, expanding the feature space while preserving category information.</a:t>
            </a:r>
            <a:endParaRPr lang="en-US" sz="1600" b="1" dirty="0"/>
          </a:p>
          <a:p>
            <a:pPr marL="285750" indent="-285750">
              <a:lnSpc>
                <a:spcPct val="125000"/>
              </a:lnSpc>
              <a:spcAft>
                <a:spcPts val="1000"/>
              </a:spcAft>
              <a:buFont typeface="Arial" panose="020B0604020202020204" pitchFamily="34" charset="0"/>
              <a:buChar char="•"/>
            </a:pPr>
            <a:r>
              <a:rPr lang="en-US" sz="1600" b="1" dirty="0">
                <a:solidFill>
                  <a:srgbClr val="2A2E24"/>
                </a:solidFill>
                <a:latin typeface="Calibri" pitchFamily="34" charset="0"/>
                <a:ea typeface="Calibri" pitchFamily="34" charset="-122"/>
                <a:cs typeface="Calibri" pitchFamily="34" charset="-120"/>
              </a:rPr>
              <a:t>80 / 20 train-test split - models trained on 80%, evaluated on an unseen 20% holdout.</a:t>
            </a:r>
            <a:endParaRPr lang="en-US" sz="1600" b="1" dirty="0"/>
          </a:p>
          <a:p>
            <a:pPr marL="285750" indent="-285750">
              <a:lnSpc>
                <a:spcPct val="125000"/>
              </a:lnSpc>
              <a:spcAft>
                <a:spcPts val="1000"/>
              </a:spcAft>
              <a:buFont typeface="Arial" panose="020B0604020202020204" pitchFamily="34" charset="0"/>
              <a:buChar char="•"/>
            </a:pPr>
            <a:r>
              <a:rPr lang="en-US" sz="1600" b="1" dirty="0">
                <a:solidFill>
                  <a:srgbClr val="2A2E24"/>
                </a:solidFill>
                <a:latin typeface="Calibri" pitchFamily="34" charset="0"/>
                <a:ea typeface="Calibri" pitchFamily="34" charset="-122"/>
                <a:cs typeface="Calibri" pitchFamily="34" charset="-120"/>
              </a:rPr>
              <a:t>Target kept in its original scale (hg/ha) so predictions and errors stay directly interpretable.</a:t>
            </a:r>
            <a:endParaRPr lang="en-US" sz="1600" b="1" dirty="0"/>
          </a:p>
        </p:txBody>
      </p:sp>
      <p:sp>
        <p:nvSpPr>
          <p:cNvPr id="6" name="Text 4"/>
          <p:cNvSpPr/>
          <p:nvPr/>
        </p:nvSpPr>
        <p:spPr>
          <a:xfrm>
            <a:off x="6172200" y="1554480"/>
            <a:ext cx="548640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Three models compared</a:t>
            </a:r>
            <a:endParaRPr lang="en-US" sz="1600" dirty="0"/>
          </a:p>
        </p:txBody>
      </p:sp>
      <p:sp>
        <p:nvSpPr>
          <p:cNvPr id="7" name="Shape 5"/>
          <p:cNvSpPr/>
          <p:nvPr/>
        </p:nvSpPr>
        <p:spPr>
          <a:xfrm>
            <a:off x="6172200" y="2057400"/>
            <a:ext cx="5486400" cy="777240"/>
          </a:xfrm>
          <a:prstGeom prst="roundRect">
            <a:avLst>
              <a:gd name="adj" fmla="val 8235"/>
            </a:avLst>
          </a:prstGeom>
          <a:solidFill>
            <a:srgbClr val="E7F0DD"/>
          </a:solidFill>
          <a:ln/>
        </p:spPr>
      </p:sp>
      <p:sp>
        <p:nvSpPr>
          <p:cNvPr id="8" name="Shape 6"/>
          <p:cNvSpPr/>
          <p:nvPr/>
        </p:nvSpPr>
        <p:spPr>
          <a:xfrm>
            <a:off x="6355080" y="2313432"/>
            <a:ext cx="256032" cy="256032"/>
          </a:xfrm>
          <a:prstGeom prst="ellipse">
            <a:avLst/>
          </a:prstGeom>
          <a:solidFill>
            <a:srgbClr val="C68A2E"/>
          </a:solidFill>
          <a:ln/>
        </p:spPr>
      </p:sp>
      <p:sp>
        <p:nvSpPr>
          <p:cNvPr id="9" name="Text 7"/>
          <p:cNvSpPr/>
          <p:nvPr/>
        </p:nvSpPr>
        <p:spPr>
          <a:xfrm>
            <a:off x="6766560" y="2130552"/>
            <a:ext cx="470916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Linear Regression</a:t>
            </a:r>
            <a:endParaRPr lang="en-US" sz="1350" dirty="0"/>
          </a:p>
        </p:txBody>
      </p:sp>
      <p:sp>
        <p:nvSpPr>
          <p:cNvPr id="10" name="Text 8"/>
          <p:cNvSpPr/>
          <p:nvPr/>
        </p:nvSpPr>
        <p:spPr>
          <a:xfrm>
            <a:off x="6766560" y="2441448"/>
            <a:ext cx="4709160" cy="365760"/>
          </a:xfrm>
          <a:prstGeom prst="rect">
            <a:avLst/>
          </a:prstGeom>
          <a:noFill/>
          <a:ln/>
        </p:spPr>
        <p:txBody>
          <a:bodyPr wrap="square" rtlCol="0" anchor="ctr"/>
          <a:lstStyle/>
          <a:p>
            <a:pPr marL="0" indent="0">
              <a:buNone/>
            </a:pPr>
            <a:r>
              <a:rPr lang="en-US" sz="1100" dirty="0">
                <a:solidFill>
                  <a:srgbClr val="6B7266"/>
                </a:solidFill>
                <a:latin typeface="Calibri" pitchFamily="34" charset="0"/>
                <a:ea typeface="Calibri" pitchFamily="34" charset="-122"/>
                <a:cs typeface="Calibri" pitchFamily="34" charset="-120"/>
              </a:rPr>
              <a:t>Baseline benchmark — assumes linear relationships</a:t>
            </a:r>
            <a:endParaRPr lang="en-US" sz="1100" dirty="0"/>
          </a:p>
        </p:txBody>
      </p:sp>
      <p:sp>
        <p:nvSpPr>
          <p:cNvPr id="11" name="Shape 9"/>
          <p:cNvSpPr/>
          <p:nvPr/>
        </p:nvSpPr>
        <p:spPr>
          <a:xfrm>
            <a:off x="6172200" y="2953512"/>
            <a:ext cx="5486400" cy="777240"/>
          </a:xfrm>
          <a:prstGeom prst="roundRect">
            <a:avLst>
              <a:gd name="adj" fmla="val 8235"/>
            </a:avLst>
          </a:prstGeom>
          <a:solidFill>
            <a:srgbClr val="E7F0DD"/>
          </a:solidFill>
          <a:ln/>
        </p:spPr>
      </p:sp>
      <p:sp>
        <p:nvSpPr>
          <p:cNvPr id="12" name="Shape 10"/>
          <p:cNvSpPr/>
          <p:nvPr/>
        </p:nvSpPr>
        <p:spPr>
          <a:xfrm>
            <a:off x="6355080" y="3209544"/>
            <a:ext cx="256032" cy="256032"/>
          </a:xfrm>
          <a:prstGeom prst="ellipse">
            <a:avLst/>
          </a:prstGeom>
          <a:solidFill>
            <a:srgbClr val="C68A2E"/>
          </a:solidFill>
          <a:ln/>
        </p:spPr>
      </p:sp>
      <p:sp>
        <p:nvSpPr>
          <p:cNvPr id="13" name="Text 11"/>
          <p:cNvSpPr/>
          <p:nvPr/>
        </p:nvSpPr>
        <p:spPr>
          <a:xfrm>
            <a:off x="6766560" y="3026664"/>
            <a:ext cx="470916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Random Forest</a:t>
            </a:r>
            <a:endParaRPr lang="en-US" sz="1350" dirty="0"/>
          </a:p>
        </p:txBody>
      </p:sp>
      <p:sp>
        <p:nvSpPr>
          <p:cNvPr id="14" name="Text 12"/>
          <p:cNvSpPr/>
          <p:nvPr/>
        </p:nvSpPr>
        <p:spPr>
          <a:xfrm>
            <a:off x="6766560" y="3337560"/>
            <a:ext cx="4709160" cy="365760"/>
          </a:xfrm>
          <a:prstGeom prst="rect">
            <a:avLst/>
          </a:prstGeom>
          <a:noFill/>
          <a:ln/>
        </p:spPr>
        <p:txBody>
          <a:bodyPr wrap="square" rtlCol="0" anchor="ctr"/>
          <a:lstStyle/>
          <a:p>
            <a:pPr marL="0" indent="0">
              <a:buNone/>
            </a:pPr>
            <a:r>
              <a:rPr lang="en-US" sz="1100" dirty="0">
                <a:solidFill>
                  <a:srgbClr val="6B7266"/>
                </a:solidFill>
                <a:latin typeface="Calibri" pitchFamily="34" charset="0"/>
                <a:ea typeface="Calibri" pitchFamily="34" charset="-122"/>
                <a:cs typeface="Calibri" pitchFamily="34" charset="-120"/>
              </a:rPr>
              <a:t>Captures non-linear interactions, robust to outliers, no scaling needed</a:t>
            </a:r>
            <a:endParaRPr lang="en-US" sz="1100" dirty="0"/>
          </a:p>
        </p:txBody>
      </p:sp>
      <p:sp>
        <p:nvSpPr>
          <p:cNvPr id="15" name="Shape 13"/>
          <p:cNvSpPr/>
          <p:nvPr/>
        </p:nvSpPr>
        <p:spPr>
          <a:xfrm>
            <a:off x="6172200" y="3849624"/>
            <a:ext cx="5486400" cy="777240"/>
          </a:xfrm>
          <a:prstGeom prst="roundRect">
            <a:avLst>
              <a:gd name="adj" fmla="val 8235"/>
            </a:avLst>
          </a:prstGeom>
          <a:solidFill>
            <a:srgbClr val="E7F0DD"/>
          </a:solidFill>
          <a:ln/>
        </p:spPr>
      </p:sp>
      <p:sp>
        <p:nvSpPr>
          <p:cNvPr id="16" name="Shape 14"/>
          <p:cNvSpPr/>
          <p:nvPr/>
        </p:nvSpPr>
        <p:spPr>
          <a:xfrm>
            <a:off x="6355080" y="4105656"/>
            <a:ext cx="256032" cy="256032"/>
          </a:xfrm>
          <a:prstGeom prst="ellipse">
            <a:avLst/>
          </a:prstGeom>
          <a:solidFill>
            <a:srgbClr val="C68A2E"/>
          </a:solidFill>
          <a:ln/>
        </p:spPr>
      </p:sp>
      <p:sp>
        <p:nvSpPr>
          <p:cNvPr id="17" name="Text 15"/>
          <p:cNvSpPr/>
          <p:nvPr/>
        </p:nvSpPr>
        <p:spPr>
          <a:xfrm>
            <a:off x="6766560" y="3922776"/>
            <a:ext cx="4709160" cy="320040"/>
          </a:xfrm>
          <a:prstGeom prst="rect">
            <a:avLst/>
          </a:prstGeom>
          <a:noFill/>
          <a:ln/>
        </p:spPr>
        <p:txBody>
          <a:bodyPr wrap="square" rtlCol="0" anchor="ctr"/>
          <a:lstStyle/>
          <a:p>
            <a:pPr marL="0" indent="0">
              <a:buNone/>
            </a:pPr>
            <a:r>
              <a:rPr lang="en-US" sz="1350" b="1" dirty="0">
                <a:solidFill>
                  <a:srgbClr val="2A2E24"/>
                </a:solidFill>
                <a:latin typeface="Cambria" pitchFamily="34" charset="0"/>
                <a:ea typeface="Cambria" pitchFamily="34" charset="-122"/>
                <a:cs typeface="Cambria" pitchFamily="34" charset="-120"/>
              </a:rPr>
              <a:t>XGBoost</a:t>
            </a:r>
            <a:endParaRPr lang="en-US" sz="1350" dirty="0"/>
          </a:p>
        </p:txBody>
      </p:sp>
      <p:sp>
        <p:nvSpPr>
          <p:cNvPr id="18" name="Text 16"/>
          <p:cNvSpPr/>
          <p:nvPr/>
        </p:nvSpPr>
        <p:spPr>
          <a:xfrm>
            <a:off x="6766560" y="4233672"/>
            <a:ext cx="4709160" cy="365760"/>
          </a:xfrm>
          <a:prstGeom prst="rect">
            <a:avLst/>
          </a:prstGeom>
          <a:noFill/>
          <a:ln/>
        </p:spPr>
        <p:txBody>
          <a:bodyPr wrap="square" rtlCol="0" anchor="ctr"/>
          <a:lstStyle/>
          <a:p>
            <a:pPr marL="0" indent="0">
              <a:buNone/>
            </a:pPr>
            <a:r>
              <a:rPr lang="en-US" sz="1100" dirty="0">
                <a:solidFill>
                  <a:srgbClr val="6B7266"/>
                </a:solidFill>
                <a:latin typeface="Calibri" pitchFamily="34" charset="0"/>
                <a:ea typeface="Calibri" pitchFamily="34" charset="-122"/>
                <a:cs typeface="Calibri" pitchFamily="34" charset="-120"/>
              </a:rPr>
              <a:t>Gradient boosting -  tests whether boosting beats bagging on this data</a:t>
            </a:r>
            <a:endParaRPr lang="en-US" sz="1100" dirty="0"/>
          </a:p>
        </p:txBody>
      </p:sp>
      <p:sp>
        <p:nvSpPr>
          <p:cNvPr id="19" name="Shape 17"/>
          <p:cNvSpPr/>
          <p:nvPr/>
        </p:nvSpPr>
        <p:spPr>
          <a:xfrm>
            <a:off x="548640" y="4892040"/>
            <a:ext cx="11064240" cy="1234440"/>
          </a:xfrm>
          <a:prstGeom prst="roundRect">
            <a:avLst>
              <a:gd name="adj" fmla="val 5926"/>
            </a:avLst>
          </a:prstGeom>
          <a:solidFill>
            <a:srgbClr val="2C5F2D"/>
          </a:solidFill>
          <a:ln/>
        </p:spPr>
      </p:sp>
      <p:sp>
        <p:nvSpPr>
          <p:cNvPr id="20" name="Text 18"/>
          <p:cNvSpPr/>
          <p:nvPr/>
        </p:nvSpPr>
        <p:spPr>
          <a:xfrm>
            <a:off x="822960" y="4892040"/>
            <a:ext cx="10515600" cy="1234440"/>
          </a:xfrm>
          <a:prstGeom prst="rect">
            <a:avLst/>
          </a:prstGeom>
          <a:noFill/>
          <a:ln/>
        </p:spPr>
        <p:txBody>
          <a:bodyPr wrap="square" rtlCol="0" anchor="ctr"/>
          <a:lstStyle/>
          <a:p>
            <a:pPr marL="0" indent="0">
              <a:lnSpc>
                <a:spcPct val="115000"/>
              </a:lnSpc>
              <a:buNone/>
            </a:pPr>
            <a:r>
              <a:rPr lang="en-US" sz="1300" b="1" dirty="0">
                <a:solidFill>
                  <a:srgbClr val="C68A2E"/>
                </a:solidFill>
                <a:latin typeface="Calibri" pitchFamily="34" charset="0"/>
                <a:ea typeface="Calibri" pitchFamily="34" charset="-122"/>
                <a:cs typeface="Calibri" pitchFamily="34" charset="-120"/>
              </a:rPr>
              <a:t>Also applied:  </a:t>
            </a:r>
            <a:r>
              <a:rPr lang="en-US" sz="1300" dirty="0">
                <a:solidFill>
                  <a:srgbClr val="FFFFFF"/>
                </a:solidFill>
                <a:latin typeface="Calibri" pitchFamily="34" charset="0"/>
                <a:ea typeface="Calibri" pitchFamily="34" charset="-122"/>
                <a:cs typeface="Calibri" pitchFamily="34" charset="-120"/>
              </a:rPr>
              <a:t>RandomizedSearchCV hyperparameter tuning on the Random Forest, 5-fold cross-validation to test stability, permutation-based feature importance, partial dependence plots for climate variables, and tree-level prediction spread as an uncertainty signal.</a:t>
            </a:r>
            <a:endParaRPr lang="en-US" sz="1300" dirty="0"/>
          </a:p>
        </p:txBody>
      </p:sp>
      <p:sp>
        <p:nvSpPr>
          <p:cNvPr id="21" name="Text 19"/>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11</a:t>
            </a:r>
            <a:endParaRPr lang="en-US" sz="1000" dirty="0"/>
          </a:p>
        </p:txBody>
      </p:sp>
      <p:sp>
        <p:nvSpPr>
          <p:cNvPr id="23" name="Oval 22">
            <a:extLst>
              <a:ext uri="{FF2B5EF4-FFF2-40B4-BE49-F238E27FC236}">
                <a16:creationId xmlns:a16="http://schemas.microsoft.com/office/drawing/2014/main" id="{2B21775B-81EA-5006-C418-E2879A22A16D}"/>
              </a:ext>
            </a:extLst>
          </p:cNvPr>
          <p:cNvSpPr/>
          <p:nvPr/>
        </p:nvSpPr>
        <p:spPr>
          <a:xfrm>
            <a:off x="5767578" y="6228456"/>
            <a:ext cx="843534"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PREDICTIVE MODELLING</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Random Forest Wins on Every Metric</a:t>
            </a:r>
            <a:endParaRPr lang="en-US" sz="3000" dirty="0"/>
          </a:p>
        </p:txBody>
      </p:sp>
      <p:pic>
        <p:nvPicPr>
          <p:cNvPr id="4" name="Image 0" descr="/home/claude/imgs/cell132_13.png"/>
          <p:cNvPicPr>
            <a:picLocks noChangeAspect="1"/>
          </p:cNvPicPr>
          <p:nvPr/>
        </p:nvPicPr>
        <p:blipFill>
          <a:blip r:embed="rId3"/>
          <a:stretch>
            <a:fillRect/>
          </a:stretch>
        </p:blipFill>
        <p:spPr>
          <a:xfrm>
            <a:off x="548640" y="1600200"/>
            <a:ext cx="5394960" cy="363931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3640" y="1828800"/>
          <a:ext cx="5394960"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RMSE</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MAE</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rgbClr val="2C5F2D"/>
                          </a:solidFill>
                          <a:latin typeface="Calibri" pitchFamily="34" charset="0"/>
                          <a:ea typeface="Calibri" pitchFamily="34" charset="-122"/>
                          <a:cs typeface="Calibri" pitchFamily="34" charset="-120"/>
                        </a:rPr>
                        <a:t>Random Forest (tuned)</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7F0DD"/>
                    </a:solidFill>
                  </a:tcPr>
                </a:tc>
                <a:tc>
                  <a:txBody>
                    <a:bodyPr/>
                    <a:lstStyle/>
                    <a:p>
                      <a:pPr marL="0" indent="0" algn="ctr">
                        <a:buNone/>
                      </a:pPr>
                      <a:r>
                        <a:rPr lang="en-US" sz="1300" dirty="0">
                          <a:solidFill>
                            <a:srgbClr val="2C5F2D"/>
                          </a:solidFill>
                          <a:latin typeface="Calibri" pitchFamily="34" charset="0"/>
                          <a:ea typeface="Calibri" pitchFamily="34" charset="-122"/>
                          <a:cs typeface="Calibri" pitchFamily="34" charset="-120"/>
                        </a:rPr>
                        <a:t>0.985</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7F0DD"/>
                    </a:solidFill>
                  </a:tcPr>
                </a:tc>
                <a:tc>
                  <a:txBody>
                    <a:bodyPr/>
                    <a:lstStyle/>
                    <a:p>
                      <a:pPr marL="0" indent="0" algn="ctr">
                        <a:buNone/>
                      </a:pPr>
                      <a:r>
                        <a:rPr lang="en-US" sz="1300" dirty="0">
                          <a:solidFill>
                            <a:srgbClr val="2C5F2D"/>
                          </a:solidFill>
                          <a:latin typeface="Calibri" pitchFamily="34" charset="0"/>
                          <a:ea typeface="Calibri" pitchFamily="34" charset="-122"/>
                          <a:cs typeface="Calibri" pitchFamily="34" charset="-120"/>
                        </a:rPr>
                        <a:t>10,522</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7F0DD"/>
                    </a:solidFill>
                  </a:tcPr>
                </a:tc>
                <a:tc>
                  <a:txBody>
                    <a:bodyPr/>
                    <a:lstStyle/>
                    <a:p>
                      <a:pPr marL="0" indent="0" algn="ctr">
                        <a:buNone/>
                      </a:pPr>
                      <a:r>
                        <a:rPr lang="en-US" sz="1300" dirty="0">
                          <a:solidFill>
                            <a:srgbClr val="2C5F2D"/>
                          </a:solidFill>
                          <a:latin typeface="Calibri" pitchFamily="34" charset="0"/>
                          <a:ea typeface="Calibri" pitchFamily="34" charset="-122"/>
                          <a:cs typeface="Calibri" pitchFamily="34" charset="-120"/>
                        </a:rPr>
                        <a:t>3,963</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E7F0DD"/>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2A2E24"/>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0.943</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20,399</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12,146</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2A2E24"/>
                          </a:solidFill>
                          <a:latin typeface="Calibri" pitchFamily="34" charset="0"/>
                          <a:ea typeface="Calibri" pitchFamily="34" charset="-122"/>
                          <a:cs typeface="Calibri" pitchFamily="34" charset="-120"/>
                        </a:rPr>
                        <a:t>Linear Regression</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0.749</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42,682</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tc>
                  <a:txBody>
                    <a:bodyPr/>
                    <a:lstStyle/>
                    <a:p>
                      <a:pPr marL="0" indent="0" algn="ctr">
                        <a:buNone/>
                      </a:pPr>
                      <a:r>
                        <a:rPr lang="en-US" sz="1300" dirty="0">
                          <a:solidFill>
                            <a:srgbClr val="2A2E24"/>
                          </a:solidFill>
                          <a:latin typeface="Calibri" pitchFamily="34" charset="0"/>
                          <a:ea typeface="Calibri" pitchFamily="34" charset="-122"/>
                          <a:cs typeface="Calibri" pitchFamily="34" charset="-120"/>
                        </a:rPr>
                        <a:t>29,921</a:t>
                      </a:r>
                      <a:endParaRPr lang="en-US" sz="1300" dirty="0">
                        <a:latin typeface="Calibri" charset="0"/>
                        <a:ea typeface="Calibri" charset="0"/>
                        <a:cs typeface="Calibri"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8F1"/>
                    </a:solidFill>
                  </a:tcPr>
                </a:tc>
                <a:extLst>
                  <a:ext uri="{0D108BD9-81ED-4DB2-BD59-A6C34878D82A}">
                    <a16:rowId xmlns:a16="http://schemas.microsoft.com/office/drawing/2014/main" val="10003"/>
                  </a:ext>
                </a:extLst>
              </a:tr>
            </a:tbl>
          </a:graphicData>
        </a:graphic>
      </p:graphicFrame>
      <p:sp>
        <p:nvSpPr>
          <p:cNvPr id="6" name="Shape 2"/>
          <p:cNvSpPr/>
          <p:nvPr/>
        </p:nvSpPr>
        <p:spPr>
          <a:xfrm>
            <a:off x="6263640" y="3977640"/>
            <a:ext cx="5394960" cy="1234440"/>
          </a:xfrm>
          <a:prstGeom prst="roundRect">
            <a:avLst>
              <a:gd name="adj" fmla="val 5926"/>
            </a:avLst>
          </a:prstGeom>
          <a:solidFill>
            <a:srgbClr val="E7F0DD"/>
          </a:solidFill>
          <a:ln/>
        </p:spPr>
      </p:sp>
      <p:sp>
        <p:nvSpPr>
          <p:cNvPr id="7" name="Text 3"/>
          <p:cNvSpPr/>
          <p:nvPr/>
        </p:nvSpPr>
        <p:spPr>
          <a:xfrm>
            <a:off x="6492240" y="3977640"/>
            <a:ext cx="4937760" cy="1234440"/>
          </a:xfrm>
          <a:prstGeom prst="rect">
            <a:avLst/>
          </a:prstGeom>
          <a:noFill/>
          <a:ln/>
        </p:spPr>
        <p:txBody>
          <a:bodyPr wrap="square" rtlCol="0" anchor="ctr"/>
          <a:lstStyle/>
          <a:p>
            <a:pPr marL="0" indent="0">
              <a:lnSpc>
                <a:spcPct val="120000"/>
              </a:lnSpc>
              <a:buNone/>
            </a:pPr>
            <a:r>
              <a:rPr lang="en-US" sz="1300" b="1" dirty="0">
                <a:solidFill>
                  <a:srgbClr val="2C5F2D"/>
                </a:solidFill>
                <a:latin typeface="Calibri" pitchFamily="34" charset="0"/>
                <a:ea typeface="Calibri" pitchFamily="34" charset="-122"/>
                <a:cs typeface="Calibri" pitchFamily="34" charset="-120"/>
              </a:rPr>
              <a:t>R² = 0.985 </a:t>
            </a:r>
            <a:r>
              <a:rPr lang="en-US" sz="1300" dirty="0">
                <a:solidFill>
                  <a:srgbClr val="2A2E24"/>
                </a:solidFill>
                <a:latin typeface="Calibri" pitchFamily="34" charset="0"/>
                <a:ea typeface="Calibri" pitchFamily="34" charset="-122"/>
                <a:cs typeface="Calibri" pitchFamily="34" charset="-120"/>
              </a:rPr>
              <a:t>means the tuned Random Forest explains ~98.5% of yield variation on the held-out test set — with the lowest error of any model tried.</a:t>
            </a:r>
            <a:endParaRPr lang="en-US" sz="1300" dirty="0"/>
          </a:p>
        </p:txBody>
      </p:sp>
      <p:sp>
        <p:nvSpPr>
          <p:cNvPr id="8" name="Text 4"/>
          <p:cNvSpPr/>
          <p:nvPr/>
        </p:nvSpPr>
        <p:spPr>
          <a:xfrm>
            <a:off x="6263640" y="5349240"/>
            <a:ext cx="5394960" cy="640080"/>
          </a:xfrm>
          <a:prstGeom prst="rect">
            <a:avLst/>
          </a:prstGeom>
          <a:noFill/>
          <a:ln/>
        </p:spPr>
        <p:txBody>
          <a:bodyPr wrap="square" rtlCol="0" anchor="ctr"/>
          <a:lstStyle/>
          <a:p>
            <a:pPr marL="0" indent="0">
              <a:lnSpc>
                <a:spcPct val="115000"/>
              </a:lnSpc>
              <a:buNone/>
            </a:pPr>
            <a:r>
              <a:rPr lang="en-US" sz="1150" i="1" dirty="0">
                <a:solidFill>
                  <a:srgbClr val="6B7266"/>
                </a:solidFill>
                <a:latin typeface="Calibri" pitchFamily="34" charset="0"/>
                <a:ea typeface="Calibri" pitchFamily="34" charset="-122"/>
                <a:cs typeface="Calibri" pitchFamily="34" charset="-120"/>
              </a:rPr>
              <a:t>Hyperparameter tuning (400 trees, unrestricted depth) confirmed the Random Forest configuration was already close to optimal.</a:t>
            </a:r>
            <a:endParaRPr lang="en-US" sz="1150" dirty="0"/>
          </a:p>
        </p:txBody>
      </p:sp>
      <p:sp>
        <p:nvSpPr>
          <p:cNvPr id="9" name="Text 5"/>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10" name="Text 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12</a:t>
            </a:r>
            <a:endParaRPr lang="en-US" sz="1000" dirty="0"/>
          </a:p>
        </p:txBody>
      </p:sp>
      <p:sp>
        <p:nvSpPr>
          <p:cNvPr id="5" name="Oval 4">
            <a:extLst>
              <a:ext uri="{FF2B5EF4-FFF2-40B4-BE49-F238E27FC236}">
                <a16:creationId xmlns:a16="http://schemas.microsoft.com/office/drawing/2014/main" id="{322AFB8C-1524-4425-8F48-4D9732510661}"/>
              </a:ext>
            </a:extLst>
          </p:cNvPr>
          <p:cNvSpPr/>
          <p:nvPr/>
        </p:nvSpPr>
        <p:spPr>
          <a:xfrm>
            <a:off x="5767578" y="6228456"/>
            <a:ext cx="843534"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12</a:t>
            </a:r>
          </a:p>
        </p:txBody>
      </p:sp>
      <p:sp>
        <p:nvSpPr>
          <p:cNvPr id="11" name="TextBox 10">
            <a:extLst>
              <a:ext uri="{FF2B5EF4-FFF2-40B4-BE49-F238E27FC236}">
                <a16:creationId xmlns:a16="http://schemas.microsoft.com/office/drawing/2014/main" id="{6A140228-8367-183C-BAF2-C5446FF97C75}"/>
              </a:ext>
            </a:extLst>
          </p:cNvPr>
          <p:cNvSpPr txBox="1"/>
          <p:nvPr/>
        </p:nvSpPr>
        <p:spPr>
          <a:xfrm>
            <a:off x="205273" y="5663682"/>
            <a:ext cx="5890727" cy="523220"/>
          </a:xfrm>
          <a:prstGeom prst="rect">
            <a:avLst/>
          </a:prstGeom>
          <a:noFill/>
        </p:spPr>
        <p:txBody>
          <a:bodyPr wrap="square" rtlCol="0">
            <a:spAutoFit/>
          </a:bodyPr>
          <a:lstStyle/>
          <a:p>
            <a:pPr algn="just"/>
            <a:r>
              <a:rPr lang="en-US" sz="1400" b="1" dirty="0">
                <a:cs typeface="Times New Roman" panose="02020603050405020304" pitchFamily="18" charset="0"/>
              </a:rPr>
              <a:t>Random Forest achieved the highest R</a:t>
            </a:r>
            <a:r>
              <a:rPr lang="en-US" sz="1400" b="1" baseline="30000" dirty="0">
                <a:cs typeface="Times New Roman" panose="02020603050405020304" pitchFamily="18" charset="0"/>
              </a:rPr>
              <a:t>2 </a:t>
            </a:r>
            <a:r>
              <a:rPr lang="en-US" sz="1400" b="1" dirty="0">
                <a:cs typeface="Times New Roman" panose="02020603050405020304" pitchFamily="18" charset="0"/>
              </a:rPr>
              <a:t>and the lowest prediction errors, making it the most suitable model for crop yield prediction.</a:t>
            </a:r>
            <a:endParaRPr lang="en-US" sz="1400" b="1" baseline="30000" dirty="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MODEL INTERPRETATION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What Really Drives Yield?</a:t>
            </a:r>
            <a:endParaRPr lang="en-US" sz="3000" dirty="0"/>
          </a:p>
        </p:txBody>
      </p:sp>
      <p:pic>
        <p:nvPicPr>
          <p:cNvPr id="4" name="Image 0" descr="/home/claude/imgs/cell125_12.png"/>
          <p:cNvPicPr>
            <a:picLocks noChangeAspect="1"/>
          </p:cNvPicPr>
          <p:nvPr/>
        </p:nvPicPr>
        <p:blipFill>
          <a:blip r:embed="rId3"/>
          <a:stretch>
            <a:fillRect/>
          </a:stretch>
        </p:blipFill>
        <p:spPr>
          <a:xfrm>
            <a:off x="548640" y="1600200"/>
            <a:ext cx="5486400" cy="3383280"/>
          </a:xfrm>
          <a:prstGeom prst="rect">
            <a:avLst/>
          </a:prstGeom>
        </p:spPr>
      </p:pic>
      <p:sp>
        <p:nvSpPr>
          <p:cNvPr id="5" name="Text 2"/>
          <p:cNvSpPr/>
          <p:nvPr/>
        </p:nvSpPr>
        <p:spPr>
          <a:xfrm>
            <a:off x="548640" y="4956048"/>
            <a:ext cx="5486400" cy="274320"/>
          </a:xfrm>
          <a:prstGeom prst="rect">
            <a:avLst/>
          </a:prstGeom>
          <a:noFill/>
          <a:ln/>
        </p:spPr>
        <p:txBody>
          <a:bodyPr wrap="square" rtlCol="0" anchor="ctr"/>
          <a:lstStyle/>
          <a:p>
            <a:pPr marL="0" indent="0" algn="ctr">
              <a:buNone/>
            </a:pPr>
            <a:r>
              <a:rPr lang="en-US" sz="1100" i="1" dirty="0">
                <a:solidFill>
                  <a:srgbClr val="6B7266"/>
                </a:solidFill>
                <a:latin typeface="Calibri" pitchFamily="34" charset="0"/>
                <a:ea typeface="Calibri" pitchFamily="34" charset="-122"/>
                <a:cs typeface="Calibri" pitchFamily="34" charset="-120"/>
              </a:rPr>
              <a:t>Grouped feature importance (Random Forest)</a:t>
            </a:r>
            <a:endParaRPr lang="en-US" sz="1100" dirty="0"/>
          </a:p>
        </p:txBody>
      </p:sp>
      <p:sp>
        <p:nvSpPr>
          <p:cNvPr id="6" name="Shape 3"/>
          <p:cNvSpPr/>
          <p:nvPr/>
        </p:nvSpPr>
        <p:spPr>
          <a:xfrm>
            <a:off x="6400800" y="1691640"/>
            <a:ext cx="5257800" cy="621792"/>
          </a:xfrm>
          <a:prstGeom prst="roundRect">
            <a:avLst>
              <a:gd name="adj" fmla="val 8824"/>
            </a:avLst>
          </a:prstGeom>
          <a:solidFill>
            <a:srgbClr val="E7F0DD"/>
          </a:solidFill>
          <a:ln/>
        </p:spPr>
      </p:sp>
      <p:sp>
        <p:nvSpPr>
          <p:cNvPr id="7" name="Shape 4"/>
          <p:cNvSpPr/>
          <p:nvPr/>
        </p:nvSpPr>
        <p:spPr>
          <a:xfrm>
            <a:off x="6583680" y="1874520"/>
            <a:ext cx="256032" cy="256032"/>
          </a:xfrm>
          <a:prstGeom prst="ellipse">
            <a:avLst/>
          </a:prstGeom>
          <a:solidFill>
            <a:srgbClr val="2C5F2D"/>
          </a:solidFill>
          <a:ln/>
        </p:spPr>
      </p:sp>
      <p:sp>
        <p:nvSpPr>
          <p:cNvPr id="8" name="Text 5"/>
          <p:cNvSpPr/>
          <p:nvPr/>
        </p:nvSpPr>
        <p:spPr>
          <a:xfrm>
            <a:off x="6995160" y="1691640"/>
            <a:ext cx="2926080" cy="621792"/>
          </a:xfrm>
          <a:prstGeom prst="rect">
            <a:avLst/>
          </a:prstGeom>
          <a:noFill/>
          <a:ln/>
        </p:spPr>
        <p:txBody>
          <a:bodyPr wrap="square" rtlCol="0" anchor="ctr"/>
          <a:lstStyle/>
          <a:p>
            <a:pPr marL="0" indent="0">
              <a:buNone/>
            </a:pPr>
            <a:r>
              <a:rPr lang="en-US" sz="1300" dirty="0">
                <a:solidFill>
                  <a:srgbClr val="2A2E24"/>
                </a:solidFill>
                <a:latin typeface="Calibri" pitchFamily="34" charset="0"/>
                <a:ea typeface="Calibri" pitchFamily="34" charset="-122"/>
                <a:cs typeface="Calibri" pitchFamily="34" charset="-120"/>
              </a:rPr>
              <a:t>Crop Type (Item)</a:t>
            </a:r>
            <a:endParaRPr lang="en-US" sz="1300" dirty="0"/>
          </a:p>
        </p:txBody>
      </p:sp>
      <p:sp>
        <p:nvSpPr>
          <p:cNvPr id="9" name="Text 6"/>
          <p:cNvSpPr/>
          <p:nvPr/>
        </p:nvSpPr>
        <p:spPr>
          <a:xfrm>
            <a:off x="9966960" y="1691640"/>
            <a:ext cx="1554480" cy="621792"/>
          </a:xfrm>
          <a:prstGeom prst="rect">
            <a:avLst/>
          </a:prstGeom>
          <a:noFill/>
          <a:ln/>
        </p:spPr>
        <p:txBody>
          <a:bodyPr wrap="square" rtlCol="0" anchor="ctr"/>
          <a:lstStyle/>
          <a:p>
            <a:pPr marL="0" indent="0" algn="r">
              <a:buNone/>
            </a:pPr>
            <a:r>
              <a:rPr lang="en-US" sz="1600" b="1" dirty="0">
                <a:solidFill>
                  <a:srgbClr val="2C5F2D"/>
                </a:solidFill>
                <a:latin typeface="Cambria" pitchFamily="34" charset="0"/>
                <a:ea typeface="Cambria" pitchFamily="34" charset="-122"/>
                <a:cs typeface="Cambria" pitchFamily="34" charset="-120"/>
              </a:rPr>
              <a:t>60.4%</a:t>
            </a:r>
            <a:endParaRPr lang="en-US" sz="1600" dirty="0"/>
          </a:p>
        </p:txBody>
      </p:sp>
      <p:sp>
        <p:nvSpPr>
          <p:cNvPr id="10" name="Shape 7"/>
          <p:cNvSpPr/>
          <p:nvPr/>
        </p:nvSpPr>
        <p:spPr>
          <a:xfrm>
            <a:off x="6400800" y="2423160"/>
            <a:ext cx="5257800" cy="621792"/>
          </a:xfrm>
          <a:prstGeom prst="roundRect">
            <a:avLst>
              <a:gd name="adj" fmla="val 8824"/>
            </a:avLst>
          </a:prstGeom>
          <a:solidFill>
            <a:srgbClr val="E7F0DD"/>
          </a:solidFill>
          <a:ln/>
        </p:spPr>
      </p:sp>
      <p:sp>
        <p:nvSpPr>
          <p:cNvPr id="11" name="Shape 8"/>
          <p:cNvSpPr/>
          <p:nvPr/>
        </p:nvSpPr>
        <p:spPr>
          <a:xfrm>
            <a:off x="6583680" y="2606040"/>
            <a:ext cx="256032" cy="256032"/>
          </a:xfrm>
          <a:prstGeom prst="ellipse">
            <a:avLst/>
          </a:prstGeom>
          <a:solidFill>
            <a:srgbClr val="6E9B4A"/>
          </a:solidFill>
          <a:ln/>
        </p:spPr>
      </p:sp>
      <p:sp>
        <p:nvSpPr>
          <p:cNvPr id="12" name="Text 9"/>
          <p:cNvSpPr/>
          <p:nvPr/>
        </p:nvSpPr>
        <p:spPr>
          <a:xfrm>
            <a:off x="6995160" y="2423160"/>
            <a:ext cx="2926080" cy="621792"/>
          </a:xfrm>
          <a:prstGeom prst="rect">
            <a:avLst/>
          </a:prstGeom>
          <a:noFill/>
          <a:ln/>
        </p:spPr>
        <p:txBody>
          <a:bodyPr wrap="square" rtlCol="0" anchor="ctr"/>
          <a:lstStyle/>
          <a:p>
            <a:pPr marL="0" indent="0">
              <a:buNone/>
            </a:pPr>
            <a:r>
              <a:rPr lang="en-US" sz="1300" dirty="0">
                <a:solidFill>
                  <a:srgbClr val="2A2E24"/>
                </a:solidFill>
                <a:latin typeface="Calibri" pitchFamily="34" charset="0"/>
                <a:ea typeface="Calibri" pitchFamily="34" charset="-122"/>
                <a:cs typeface="Calibri" pitchFamily="34" charset="-120"/>
              </a:rPr>
              <a:t>Geographic Area</a:t>
            </a:r>
            <a:endParaRPr lang="en-US" sz="1300" dirty="0"/>
          </a:p>
        </p:txBody>
      </p:sp>
      <p:sp>
        <p:nvSpPr>
          <p:cNvPr id="13" name="Text 10"/>
          <p:cNvSpPr/>
          <p:nvPr/>
        </p:nvSpPr>
        <p:spPr>
          <a:xfrm>
            <a:off x="9966960" y="2423160"/>
            <a:ext cx="1554480" cy="621792"/>
          </a:xfrm>
          <a:prstGeom prst="rect">
            <a:avLst/>
          </a:prstGeom>
          <a:noFill/>
          <a:ln/>
        </p:spPr>
        <p:txBody>
          <a:bodyPr wrap="square" rtlCol="0" anchor="ctr"/>
          <a:lstStyle/>
          <a:p>
            <a:pPr marL="0" indent="0" algn="r">
              <a:buNone/>
            </a:pPr>
            <a:r>
              <a:rPr lang="en-US" sz="1600" b="1" dirty="0">
                <a:solidFill>
                  <a:srgbClr val="6E9B4A"/>
                </a:solidFill>
                <a:latin typeface="Cambria" pitchFamily="34" charset="0"/>
                <a:ea typeface="Cambria" pitchFamily="34" charset="-122"/>
                <a:cs typeface="Cambria" pitchFamily="34" charset="-120"/>
              </a:rPr>
              <a:t>20.2%</a:t>
            </a:r>
            <a:endParaRPr lang="en-US" sz="1600" dirty="0"/>
          </a:p>
        </p:txBody>
      </p:sp>
      <p:sp>
        <p:nvSpPr>
          <p:cNvPr id="14" name="Shape 11"/>
          <p:cNvSpPr/>
          <p:nvPr/>
        </p:nvSpPr>
        <p:spPr>
          <a:xfrm>
            <a:off x="6400800" y="3154680"/>
            <a:ext cx="5257800" cy="621792"/>
          </a:xfrm>
          <a:prstGeom prst="roundRect">
            <a:avLst>
              <a:gd name="adj" fmla="val 8824"/>
            </a:avLst>
          </a:prstGeom>
          <a:solidFill>
            <a:srgbClr val="E7F0DD"/>
          </a:solidFill>
          <a:ln/>
        </p:spPr>
      </p:sp>
      <p:sp>
        <p:nvSpPr>
          <p:cNvPr id="15" name="Shape 12"/>
          <p:cNvSpPr/>
          <p:nvPr/>
        </p:nvSpPr>
        <p:spPr>
          <a:xfrm>
            <a:off x="6583680" y="3337560"/>
            <a:ext cx="256032" cy="256032"/>
          </a:xfrm>
          <a:prstGeom prst="ellipse">
            <a:avLst/>
          </a:prstGeom>
          <a:solidFill>
            <a:srgbClr val="C68A2E"/>
          </a:solidFill>
          <a:ln/>
        </p:spPr>
      </p:sp>
      <p:sp>
        <p:nvSpPr>
          <p:cNvPr id="16" name="Text 13"/>
          <p:cNvSpPr/>
          <p:nvPr/>
        </p:nvSpPr>
        <p:spPr>
          <a:xfrm>
            <a:off x="6995160" y="3154680"/>
            <a:ext cx="2926080" cy="621792"/>
          </a:xfrm>
          <a:prstGeom prst="rect">
            <a:avLst/>
          </a:prstGeom>
          <a:noFill/>
          <a:ln/>
        </p:spPr>
        <p:txBody>
          <a:bodyPr wrap="square" rtlCol="0" anchor="ctr"/>
          <a:lstStyle/>
          <a:p>
            <a:pPr marL="0" indent="0">
              <a:buNone/>
            </a:pPr>
            <a:r>
              <a:rPr lang="en-US" sz="1300" dirty="0">
                <a:solidFill>
                  <a:srgbClr val="2A2E24"/>
                </a:solidFill>
                <a:latin typeface="Calibri" pitchFamily="34" charset="0"/>
                <a:ea typeface="Calibri" pitchFamily="34" charset="-122"/>
                <a:cs typeface="Calibri" pitchFamily="34" charset="-120"/>
              </a:rPr>
              <a:t>Pesticide Usage</a:t>
            </a:r>
            <a:endParaRPr lang="en-US" sz="1300" dirty="0"/>
          </a:p>
        </p:txBody>
      </p:sp>
      <p:sp>
        <p:nvSpPr>
          <p:cNvPr id="17" name="Text 14"/>
          <p:cNvSpPr/>
          <p:nvPr/>
        </p:nvSpPr>
        <p:spPr>
          <a:xfrm>
            <a:off x="9966960" y="3154680"/>
            <a:ext cx="1554480" cy="621792"/>
          </a:xfrm>
          <a:prstGeom prst="rect">
            <a:avLst/>
          </a:prstGeom>
          <a:noFill/>
          <a:ln/>
        </p:spPr>
        <p:txBody>
          <a:bodyPr wrap="square" rtlCol="0" anchor="ctr"/>
          <a:lstStyle/>
          <a:p>
            <a:pPr marL="0" indent="0" algn="r">
              <a:buNone/>
            </a:pPr>
            <a:r>
              <a:rPr lang="en-US" sz="1600" b="1" dirty="0">
                <a:solidFill>
                  <a:srgbClr val="C68A2E"/>
                </a:solidFill>
                <a:latin typeface="Cambria" pitchFamily="34" charset="0"/>
                <a:ea typeface="Cambria" pitchFamily="34" charset="-122"/>
                <a:cs typeface="Cambria" pitchFamily="34" charset="-120"/>
              </a:rPr>
              <a:t>7.2%</a:t>
            </a:r>
            <a:endParaRPr lang="en-US" sz="1600" dirty="0"/>
          </a:p>
        </p:txBody>
      </p:sp>
      <p:sp>
        <p:nvSpPr>
          <p:cNvPr id="18" name="Shape 15"/>
          <p:cNvSpPr/>
          <p:nvPr/>
        </p:nvSpPr>
        <p:spPr>
          <a:xfrm>
            <a:off x="6400800" y="3886200"/>
            <a:ext cx="5257800" cy="621792"/>
          </a:xfrm>
          <a:prstGeom prst="roundRect">
            <a:avLst>
              <a:gd name="adj" fmla="val 8824"/>
            </a:avLst>
          </a:prstGeom>
          <a:solidFill>
            <a:srgbClr val="E7F0DD"/>
          </a:solidFill>
          <a:ln/>
        </p:spPr>
      </p:sp>
      <p:sp>
        <p:nvSpPr>
          <p:cNvPr id="19" name="Shape 16"/>
          <p:cNvSpPr/>
          <p:nvPr/>
        </p:nvSpPr>
        <p:spPr>
          <a:xfrm>
            <a:off x="6583680" y="4069080"/>
            <a:ext cx="256032" cy="256032"/>
          </a:xfrm>
          <a:prstGeom prst="ellipse">
            <a:avLst/>
          </a:prstGeom>
          <a:solidFill>
            <a:srgbClr val="6B7266"/>
          </a:solidFill>
          <a:ln/>
        </p:spPr>
      </p:sp>
      <p:sp>
        <p:nvSpPr>
          <p:cNvPr id="20" name="Text 17"/>
          <p:cNvSpPr/>
          <p:nvPr/>
        </p:nvSpPr>
        <p:spPr>
          <a:xfrm>
            <a:off x="6995160" y="3886200"/>
            <a:ext cx="2926080" cy="621792"/>
          </a:xfrm>
          <a:prstGeom prst="rect">
            <a:avLst/>
          </a:prstGeom>
          <a:noFill/>
          <a:ln/>
        </p:spPr>
        <p:txBody>
          <a:bodyPr wrap="square" rtlCol="0" anchor="ctr"/>
          <a:lstStyle/>
          <a:p>
            <a:pPr marL="0" indent="0">
              <a:buNone/>
            </a:pPr>
            <a:r>
              <a:rPr lang="en-US" sz="1300" dirty="0">
                <a:solidFill>
                  <a:srgbClr val="2A2E24"/>
                </a:solidFill>
                <a:latin typeface="Calibri" pitchFamily="34" charset="0"/>
                <a:ea typeface="Calibri" pitchFamily="34" charset="-122"/>
                <a:cs typeface="Calibri" pitchFamily="34" charset="-120"/>
              </a:rPr>
              <a:t>Temperature, Rainfall, Year</a:t>
            </a:r>
            <a:endParaRPr lang="en-US" sz="1300" dirty="0"/>
          </a:p>
        </p:txBody>
      </p:sp>
      <p:sp>
        <p:nvSpPr>
          <p:cNvPr id="21" name="Text 18"/>
          <p:cNvSpPr/>
          <p:nvPr/>
        </p:nvSpPr>
        <p:spPr>
          <a:xfrm>
            <a:off x="9966960" y="3886200"/>
            <a:ext cx="1554480" cy="621792"/>
          </a:xfrm>
          <a:prstGeom prst="rect">
            <a:avLst/>
          </a:prstGeom>
          <a:noFill/>
          <a:ln/>
        </p:spPr>
        <p:txBody>
          <a:bodyPr wrap="square" rtlCol="0" anchor="ctr"/>
          <a:lstStyle/>
          <a:p>
            <a:pPr marL="0" indent="0" algn="r">
              <a:buNone/>
            </a:pPr>
            <a:r>
              <a:rPr lang="en-US" sz="1600" b="1" dirty="0">
                <a:solidFill>
                  <a:srgbClr val="6B7266"/>
                </a:solidFill>
                <a:latin typeface="Cambria" pitchFamily="34" charset="0"/>
                <a:ea typeface="Cambria" pitchFamily="34" charset="-122"/>
                <a:cs typeface="Cambria" pitchFamily="34" charset="-120"/>
              </a:rPr>
              <a:t>remainder</a:t>
            </a:r>
            <a:endParaRPr lang="en-US" sz="1600" dirty="0"/>
          </a:p>
        </p:txBody>
      </p:sp>
      <p:sp>
        <p:nvSpPr>
          <p:cNvPr id="22" name="Shape 19"/>
          <p:cNvSpPr/>
          <p:nvPr/>
        </p:nvSpPr>
        <p:spPr>
          <a:xfrm>
            <a:off x="6400800" y="4663440"/>
            <a:ext cx="5257800" cy="1508760"/>
          </a:xfrm>
          <a:prstGeom prst="roundRect">
            <a:avLst>
              <a:gd name="adj" fmla="val 4848"/>
            </a:avLst>
          </a:prstGeom>
          <a:solidFill>
            <a:srgbClr val="2C5F2D"/>
          </a:solidFill>
          <a:ln/>
        </p:spPr>
      </p:sp>
      <p:sp>
        <p:nvSpPr>
          <p:cNvPr id="23" name="Text 20"/>
          <p:cNvSpPr/>
          <p:nvPr/>
        </p:nvSpPr>
        <p:spPr>
          <a:xfrm>
            <a:off x="6629400" y="4800600"/>
            <a:ext cx="4846320" cy="1280160"/>
          </a:xfrm>
          <a:prstGeom prst="rect">
            <a:avLst/>
          </a:prstGeom>
          <a:noFill/>
          <a:ln/>
        </p:spPr>
        <p:txBody>
          <a:bodyPr wrap="square" rtlCol="0" anchor="ctr"/>
          <a:lstStyle/>
          <a:p>
            <a:pPr marL="0" indent="0">
              <a:lnSpc>
                <a:spcPct val="120000"/>
              </a:lnSpc>
              <a:buNone/>
            </a:pPr>
            <a:r>
              <a:rPr lang="en-US" sz="1250" b="1" dirty="0">
                <a:solidFill>
                  <a:srgbClr val="C68A2E"/>
                </a:solidFill>
                <a:latin typeface="Calibri" pitchFamily="34" charset="0"/>
                <a:ea typeface="Calibri" pitchFamily="34" charset="-122"/>
                <a:cs typeface="Calibri" pitchFamily="34" charset="-120"/>
              </a:rPr>
              <a:t>Bottom line:  </a:t>
            </a:r>
            <a:r>
              <a:rPr lang="en-US" sz="1250" dirty="0">
                <a:solidFill>
                  <a:srgbClr val="FFFFFF"/>
                </a:solidFill>
                <a:latin typeface="Calibri" pitchFamily="34" charset="0"/>
                <a:ea typeface="Calibri" pitchFamily="34" charset="-122"/>
                <a:cs typeface="Calibri" pitchFamily="34" charset="-120"/>
              </a:rPr>
              <a:t>what you grow and where you grow it explain ~80% of yield variation. Individually, Item_Potatoes is the single strongest feature (≈37%), with pesticide usage the top environmental signal.</a:t>
            </a:r>
            <a:endParaRPr lang="en-US" sz="1250" dirty="0"/>
          </a:p>
        </p:txBody>
      </p:sp>
      <p:sp>
        <p:nvSpPr>
          <p:cNvPr id="24" name="Text 21"/>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5"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13</a:t>
            </a:r>
            <a:endParaRPr lang="en-US" sz="1000" dirty="0"/>
          </a:p>
        </p:txBody>
      </p:sp>
      <p:sp>
        <p:nvSpPr>
          <p:cNvPr id="26" name="Oval 25">
            <a:extLst>
              <a:ext uri="{FF2B5EF4-FFF2-40B4-BE49-F238E27FC236}">
                <a16:creationId xmlns:a16="http://schemas.microsoft.com/office/drawing/2014/main" id="{497E473F-28C1-E94C-5A27-7BD2EF3F473C}"/>
              </a:ext>
            </a:extLst>
          </p:cNvPr>
          <p:cNvSpPr/>
          <p:nvPr/>
        </p:nvSpPr>
        <p:spPr>
          <a:xfrm>
            <a:off x="5767578" y="6228456"/>
            <a:ext cx="843534"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MODEL INTERPRETATION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Reading Predictions With Appropriate Caution</a:t>
            </a:r>
            <a:endParaRPr lang="en-US" sz="3000" dirty="0"/>
          </a:p>
        </p:txBody>
      </p:sp>
      <p:sp>
        <p:nvSpPr>
          <p:cNvPr id="4" name="Text 2"/>
          <p:cNvSpPr/>
          <p:nvPr/>
        </p:nvSpPr>
        <p:spPr>
          <a:xfrm>
            <a:off x="548640" y="1600200"/>
            <a:ext cx="539496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Cross-validation caveat</a:t>
            </a:r>
            <a:endParaRPr lang="en-US" sz="1600" dirty="0"/>
          </a:p>
        </p:txBody>
      </p:sp>
      <p:sp>
        <p:nvSpPr>
          <p:cNvPr id="5" name="Text 3"/>
          <p:cNvSpPr/>
          <p:nvPr/>
        </p:nvSpPr>
        <p:spPr>
          <a:xfrm>
            <a:off x="548640" y="2057400"/>
            <a:ext cx="5394960" cy="1115568"/>
          </a:xfrm>
          <a:prstGeom prst="rect">
            <a:avLst/>
          </a:prstGeom>
          <a:noFill/>
          <a:ln/>
        </p:spPr>
        <p:txBody>
          <a:bodyPr wrap="square" rtlCol="0" anchor="ctr"/>
          <a:lstStyle/>
          <a:p>
            <a:pPr marL="0" indent="0">
              <a:lnSpc>
                <a:spcPct val="125000"/>
              </a:lnSpc>
              <a:buNone/>
            </a:pPr>
            <a:r>
              <a:rPr lang="en-US" sz="1350" dirty="0">
                <a:solidFill>
                  <a:srgbClr val="2A2E24"/>
                </a:solidFill>
                <a:latin typeface="Calibri" pitchFamily="34" charset="0"/>
                <a:ea typeface="Calibri" pitchFamily="34" charset="-122"/>
                <a:cs typeface="Calibri" pitchFamily="34" charset="-120"/>
              </a:rPr>
              <a:t>5-fold CV produced R² scores from </a:t>
            </a:r>
            <a:r>
              <a:rPr lang="en-US" sz="1350" b="1" dirty="0">
                <a:solidFill>
                  <a:srgbClr val="C68A2E"/>
                </a:solidFill>
                <a:latin typeface="Calibri" pitchFamily="34" charset="0"/>
                <a:ea typeface="Calibri" pitchFamily="34" charset="-122"/>
                <a:cs typeface="Calibri" pitchFamily="34" charset="-120"/>
              </a:rPr>
              <a:t>0.516 to 0.785</a:t>
            </a:r>
            <a:r>
              <a:rPr lang="en-US" sz="1350" dirty="0">
                <a:solidFill>
                  <a:srgbClr val="2A2E24"/>
                </a:solidFill>
                <a:latin typeface="Calibri" pitchFamily="34" charset="0"/>
                <a:ea typeface="Calibri" pitchFamily="34" charset="-122"/>
                <a:cs typeface="Calibri" pitchFamily="34" charset="-120"/>
              </a:rPr>
              <a:t> (mean 0.684) — well below the 0.985 seen on the single test split.</a:t>
            </a:r>
            <a:endParaRPr lang="en-US" sz="1350" dirty="0"/>
          </a:p>
          <a:p>
            <a:pPr marL="0" indent="0">
              <a:lnSpc>
                <a:spcPct val="125000"/>
              </a:lnSpc>
              <a:buNone/>
            </a:pPr>
            <a:r>
              <a:rPr lang="en-US" sz="1350" dirty="0">
                <a:solidFill>
                  <a:srgbClr val="2A2E24"/>
                </a:solidFill>
                <a:latin typeface="Calibri" pitchFamily="34" charset="0"/>
                <a:ea typeface="Calibri" pitchFamily="34" charset="-122"/>
                <a:cs typeface="Calibri" pitchFamily="34" charset="-120"/>
              </a:rPr>
              <a:t>The single-split result is likely optimistic; performance should be read cautiously when applied beyond the training distribution.</a:t>
            </a:r>
            <a:endParaRPr lang="en-US" sz="1350" dirty="0"/>
          </a:p>
        </p:txBody>
      </p:sp>
      <p:sp>
        <p:nvSpPr>
          <p:cNvPr id="6" name="Text 4"/>
          <p:cNvSpPr/>
          <p:nvPr/>
        </p:nvSpPr>
        <p:spPr>
          <a:xfrm>
            <a:off x="552815" y="4349349"/>
            <a:ext cx="5394960" cy="36576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Prediction uncertainty as a risk signal</a:t>
            </a:r>
            <a:endParaRPr lang="en-US" sz="1600" dirty="0"/>
          </a:p>
        </p:txBody>
      </p:sp>
      <p:sp>
        <p:nvSpPr>
          <p:cNvPr id="7" name="Text 5"/>
          <p:cNvSpPr/>
          <p:nvPr/>
        </p:nvSpPr>
        <p:spPr>
          <a:xfrm>
            <a:off x="552815" y="4587447"/>
            <a:ext cx="5394960" cy="970386"/>
          </a:xfrm>
          <a:prstGeom prst="rect">
            <a:avLst/>
          </a:prstGeom>
          <a:noFill/>
          <a:ln/>
        </p:spPr>
        <p:txBody>
          <a:bodyPr wrap="square" rtlCol="0" anchor="ctr"/>
          <a:lstStyle/>
          <a:p>
            <a:pPr marL="0" indent="0">
              <a:lnSpc>
                <a:spcPct val="125000"/>
              </a:lnSpc>
              <a:buNone/>
            </a:pPr>
            <a:r>
              <a:rPr lang="en-US" sz="1350" dirty="0">
                <a:solidFill>
                  <a:srgbClr val="2A2E24"/>
                </a:solidFill>
                <a:latin typeface="Calibri" pitchFamily="34" charset="0"/>
                <a:ea typeface="Calibri" pitchFamily="34" charset="-122"/>
                <a:cs typeface="Calibri" pitchFamily="34" charset="-120"/>
              </a:rPr>
              <a:t>Random Forest's individual trees each produce a prediction - their </a:t>
            </a:r>
            <a:r>
              <a:rPr lang="en-US" sz="1350" b="1" dirty="0">
                <a:solidFill>
                  <a:srgbClr val="C68A2E"/>
                </a:solidFill>
                <a:latin typeface="Calibri" pitchFamily="34" charset="0"/>
                <a:ea typeface="Calibri" pitchFamily="34" charset="-122"/>
                <a:cs typeface="Calibri" pitchFamily="34" charset="-120"/>
              </a:rPr>
              <a:t>spread</a:t>
            </a:r>
            <a:r>
              <a:rPr lang="en-US" sz="1350" dirty="0">
                <a:solidFill>
                  <a:srgbClr val="2A2E24"/>
                </a:solidFill>
                <a:latin typeface="Calibri" pitchFamily="34" charset="0"/>
                <a:ea typeface="Calibri" pitchFamily="34" charset="-122"/>
                <a:cs typeface="Calibri" pitchFamily="34" charset="-120"/>
              </a:rPr>
              <a:t> is a usable proxy for confidence: tight spread = low risk (familiar case); wide spread = higher risk (unusual crop/region/climate combination).</a:t>
            </a:r>
            <a:endParaRPr lang="en-US" sz="1350" dirty="0"/>
          </a:p>
        </p:txBody>
      </p:sp>
      <p:sp>
        <p:nvSpPr>
          <p:cNvPr id="8" name="Shape 6"/>
          <p:cNvSpPr/>
          <p:nvPr/>
        </p:nvSpPr>
        <p:spPr>
          <a:xfrm>
            <a:off x="6309360" y="1600200"/>
            <a:ext cx="5349240" cy="4617720"/>
          </a:xfrm>
          <a:prstGeom prst="roundRect">
            <a:avLst>
              <a:gd name="adj" fmla="val 1980"/>
            </a:avLst>
          </a:prstGeom>
          <a:solidFill>
            <a:srgbClr val="E7F0DD"/>
          </a:solidFill>
          <a:ln/>
        </p:spPr>
      </p:sp>
      <p:sp>
        <p:nvSpPr>
          <p:cNvPr id="9" name="Text 7"/>
          <p:cNvSpPr/>
          <p:nvPr/>
        </p:nvSpPr>
        <p:spPr>
          <a:xfrm>
            <a:off x="6583680" y="1828800"/>
            <a:ext cx="4846320" cy="365760"/>
          </a:xfrm>
          <a:prstGeom prst="rect">
            <a:avLst/>
          </a:prstGeom>
          <a:noFill/>
          <a:ln/>
        </p:spPr>
        <p:txBody>
          <a:bodyPr wrap="square" rtlCol="0" anchor="ctr"/>
          <a:lstStyle/>
          <a:p>
            <a:pPr marL="0" indent="0">
              <a:buNone/>
            </a:pPr>
            <a:r>
              <a:rPr lang="en-US" sz="1400" b="1" dirty="0">
                <a:solidFill>
                  <a:srgbClr val="2C5F2D"/>
                </a:solidFill>
                <a:latin typeface="Cambria" pitchFamily="34" charset="0"/>
                <a:ea typeface="Cambria" pitchFamily="34" charset="-122"/>
                <a:cs typeface="Cambria" pitchFamily="34" charset="-120"/>
              </a:rPr>
              <a:t>Example test-set observation</a:t>
            </a:r>
            <a:endParaRPr lang="en-US" sz="1400" dirty="0"/>
          </a:p>
        </p:txBody>
      </p:sp>
      <p:sp>
        <p:nvSpPr>
          <p:cNvPr id="10" name="Text 8"/>
          <p:cNvSpPr/>
          <p:nvPr/>
        </p:nvSpPr>
        <p:spPr>
          <a:xfrm>
            <a:off x="6583680" y="2286000"/>
            <a:ext cx="4846320" cy="320040"/>
          </a:xfrm>
          <a:prstGeom prst="rect">
            <a:avLst/>
          </a:prstGeom>
          <a:noFill/>
          <a:ln/>
        </p:spPr>
        <p:txBody>
          <a:bodyPr wrap="square" rtlCol="0" anchor="ctr"/>
          <a:lstStyle/>
          <a:p>
            <a:pPr marL="0" indent="0">
              <a:buNone/>
            </a:pPr>
            <a:r>
              <a:rPr lang="en-US" sz="1250" dirty="0">
                <a:solidFill>
                  <a:srgbClr val="6B7266"/>
                </a:solidFill>
                <a:latin typeface="Calibri" pitchFamily="34" charset="0"/>
                <a:ea typeface="Calibri" pitchFamily="34" charset="-122"/>
                <a:cs typeface="Calibri" pitchFamily="34" charset="-120"/>
              </a:rPr>
              <a:t>87,926 hg/ha actual</a:t>
            </a:r>
            <a:endParaRPr lang="en-US" sz="1250" dirty="0"/>
          </a:p>
        </p:txBody>
      </p:sp>
      <p:sp>
        <p:nvSpPr>
          <p:cNvPr id="11" name="Text 9"/>
          <p:cNvSpPr/>
          <p:nvPr/>
        </p:nvSpPr>
        <p:spPr>
          <a:xfrm>
            <a:off x="6583680" y="2606040"/>
            <a:ext cx="4846320" cy="411480"/>
          </a:xfrm>
          <a:prstGeom prst="rect">
            <a:avLst/>
          </a:prstGeom>
          <a:noFill/>
          <a:ln/>
        </p:spPr>
        <p:txBody>
          <a:bodyPr wrap="square" rtlCol="0" anchor="ctr"/>
          <a:lstStyle/>
          <a:p>
            <a:pPr marL="0" indent="0">
              <a:buNone/>
            </a:pPr>
            <a:r>
              <a:rPr lang="en-US" sz="2200" b="1" dirty="0">
                <a:solidFill>
                  <a:srgbClr val="2A2E24"/>
                </a:solidFill>
                <a:latin typeface="Cambria" pitchFamily="34" charset="0"/>
                <a:ea typeface="Cambria" pitchFamily="34" charset="-122"/>
                <a:cs typeface="Cambria" pitchFamily="34" charset="-120"/>
              </a:rPr>
              <a:t>Predicted: 110,379</a:t>
            </a:r>
            <a:endParaRPr lang="en-US" sz="2200" dirty="0"/>
          </a:p>
        </p:txBody>
      </p:sp>
      <p:sp>
        <p:nvSpPr>
          <p:cNvPr id="12" name="Shape 10"/>
          <p:cNvSpPr/>
          <p:nvPr/>
        </p:nvSpPr>
        <p:spPr>
          <a:xfrm>
            <a:off x="6583680" y="3246120"/>
            <a:ext cx="4846320" cy="457200"/>
          </a:xfrm>
          <a:prstGeom prst="rect">
            <a:avLst/>
          </a:prstGeom>
          <a:solidFill>
            <a:srgbClr val="FFFFFF"/>
          </a:solidFill>
          <a:ln w="12700">
            <a:solidFill>
              <a:srgbClr val="D8D8D8"/>
            </a:solidFill>
            <a:prstDash val="solid"/>
          </a:ln>
        </p:spPr>
      </p:sp>
      <p:sp>
        <p:nvSpPr>
          <p:cNvPr id="13" name="Shape 11"/>
          <p:cNvSpPr/>
          <p:nvPr/>
        </p:nvSpPr>
        <p:spPr>
          <a:xfrm>
            <a:off x="6583680" y="3246120"/>
            <a:ext cx="4846320" cy="457200"/>
          </a:xfrm>
          <a:prstGeom prst="rect">
            <a:avLst/>
          </a:prstGeom>
          <a:solidFill>
            <a:srgbClr val="6E9B4A">
              <a:alpha val="70000"/>
            </a:srgbClr>
          </a:solidFill>
          <a:ln/>
        </p:spPr>
      </p:sp>
      <p:sp>
        <p:nvSpPr>
          <p:cNvPr id="14" name="Shape 12"/>
          <p:cNvSpPr/>
          <p:nvPr/>
        </p:nvSpPr>
        <p:spPr>
          <a:xfrm>
            <a:off x="9006840" y="3200400"/>
            <a:ext cx="0" cy="548640"/>
          </a:xfrm>
          <a:prstGeom prst="line">
            <a:avLst/>
          </a:prstGeom>
          <a:noFill/>
          <a:ln w="31750">
            <a:solidFill>
              <a:srgbClr val="C68A2E"/>
            </a:solidFill>
            <a:prstDash val="solid"/>
          </a:ln>
        </p:spPr>
      </p:sp>
      <p:sp>
        <p:nvSpPr>
          <p:cNvPr id="15" name="Text 13"/>
          <p:cNvSpPr/>
          <p:nvPr/>
        </p:nvSpPr>
        <p:spPr>
          <a:xfrm>
            <a:off x="6583680" y="3730752"/>
            <a:ext cx="54864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0</a:t>
            </a:r>
            <a:endParaRPr lang="en-US" sz="1000" dirty="0"/>
          </a:p>
        </p:txBody>
      </p:sp>
      <p:sp>
        <p:nvSpPr>
          <p:cNvPr id="16" name="Text 14"/>
          <p:cNvSpPr/>
          <p:nvPr/>
        </p:nvSpPr>
        <p:spPr>
          <a:xfrm>
            <a:off x="10515600" y="3730752"/>
            <a:ext cx="9144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237,338</a:t>
            </a:r>
            <a:endParaRPr lang="en-US" sz="1000" dirty="0"/>
          </a:p>
        </p:txBody>
      </p:sp>
      <p:sp>
        <p:nvSpPr>
          <p:cNvPr id="17" name="Text 15"/>
          <p:cNvSpPr/>
          <p:nvPr/>
        </p:nvSpPr>
        <p:spPr>
          <a:xfrm>
            <a:off x="6583680" y="4069080"/>
            <a:ext cx="4846320" cy="320040"/>
          </a:xfrm>
          <a:prstGeom prst="rect">
            <a:avLst/>
          </a:prstGeom>
          <a:noFill/>
          <a:ln/>
        </p:spPr>
        <p:txBody>
          <a:bodyPr wrap="square" rtlCol="0" anchor="ctr"/>
          <a:lstStyle/>
          <a:p>
            <a:pPr marL="0" indent="0">
              <a:buNone/>
            </a:pPr>
            <a:r>
              <a:rPr lang="en-US" sz="1100" i="1" dirty="0">
                <a:solidFill>
                  <a:srgbClr val="6B7266"/>
                </a:solidFill>
                <a:latin typeface="Calibri" pitchFamily="34" charset="0"/>
                <a:ea typeface="Calibri" pitchFamily="34" charset="-122"/>
                <a:cs typeface="Calibri" pitchFamily="34" charset="-120"/>
              </a:rPr>
              <a:t>Heuristic 90% range (±1.645 × tree std. dev.)</a:t>
            </a:r>
            <a:endParaRPr lang="en-US" sz="1100" dirty="0"/>
          </a:p>
        </p:txBody>
      </p:sp>
      <p:sp>
        <p:nvSpPr>
          <p:cNvPr id="18" name="Text 16"/>
          <p:cNvSpPr/>
          <p:nvPr/>
        </p:nvSpPr>
        <p:spPr>
          <a:xfrm>
            <a:off x="6583680" y="4617720"/>
            <a:ext cx="4846320" cy="914400"/>
          </a:xfrm>
          <a:prstGeom prst="rect">
            <a:avLst/>
          </a:prstGeom>
          <a:noFill/>
          <a:ln/>
        </p:spPr>
        <p:txBody>
          <a:bodyPr wrap="square" rtlCol="0" anchor="ctr"/>
          <a:lstStyle/>
          <a:p>
            <a:pPr marL="0" indent="0">
              <a:lnSpc>
                <a:spcPct val="120000"/>
              </a:lnSpc>
              <a:buNone/>
            </a:pPr>
            <a:r>
              <a:rPr lang="en-US" sz="1250" b="1" dirty="0">
                <a:solidFill>
                  <a:srgbClr val="2A2E24"/>
                </a:solidFill>
                <a:latin typeface="Calibri" pitchFamily="34" charset="0"/>
                <a:ea typeface="Calibri" pitchFamily="34" charset="-122"/>
                <a:cs typeface="Calibri" pitchFamily="34" charset="-120"/>
              </a:rPr>
              <a:t>Tree disagreement (std. dev.): </a:t>
            </a:r>
            <a:r>
              <a:rPr lang="en-US" sz="1250" b="1" dirty="0">
                <a:solidFill>
                  <a:srgbClr val="C68A2E"/>
                </a:solidFill>
                <a:latin typeface="Calibri" pitchFamily="34" charset="0"/>
                <a:ea typeface="Calibri" pitchFamily="34" charset="-122"/>
                <a:cs typeface="Calibri" pitchFamily="34" charset="-120"/>
              </a:rPr>
              <a:t>77,179 hg/ha — </a:t>
            </a:r>
            <a:r>
              <a:rPr lang="en-US" sz="1250" dirty="0">
                <a:solidFill>
                  <a:srgbClr val="2A2E24"/>
                </a:solidFill>
                <a:latin typeface="Calibri" pitchFamily="34" charset="0"/>
                <a:ea typeface="Calibri" pitchFamily="34" charset="-122"/>
                <a:cs typeface="Calibri" pitchFamily="34" charset="-120"/>
              </a:rPr>
              <a:t>a wide spread flags this as a lower-confidence prediction worth cautious interpretation.</a:t>
            </a:r>
            <a:endParaRPr lang="en-US" sz="1250" dirty="0"/>
          </a:p>
        </p:txBody>
      </p:sp>
      <p:sp>
        <p:nvSpPr>
          <p:cNvPr id="19" name="Text 17"/>
          <p:cNvSpPr/>
          <p:nvPr/>
        </p:nvSpPr>
        <p:spPr>
          <a:xfrm>
            <a:off x="6583680" y="5623560"/>
            <a:ext cx="4846320" cy="457200"/>
          </a:xfrm>
          <a:prstGeom prst="rect">
            <a:avLst/>
          </a:prstGeom>
          <a:noFill/>
          <a:ln/>
        </p:spPr>
        <p:txBody>
          <a:bodyPr wrap="square" rtlCol="0" anchor="ctr"/>
          <a:lstStyle/>
          <a:p>
            <a:pPr marL="0" indent="0">
              <a:buNone/>
            </a:pPr>
            <a:r>
              <a:rPr lang="en-US" sz="1050" i="1" dirty="0">
                <a:solidFill>
                  <a:srgbClr val="6B7266"/>
                </a:solidFill>
                <a:latin typeface="Calibri" pitchFamily="34" charset="0"/>
                <a:ea typeface="Calibri" pitchFamily="34" charset="-122"/>
                <a:cs typeface="Calibri" pitchFamily="34" charset="-120"/>
              </a:rPr>
              <a:t>These ranges are heuristic risk indicators, not formally calibrated statistical intervals.</a:t>
            </a:r>
            <a:endParaRPr lang="en-US" sz="1050" dirty="0"/>
          </a:p>
        </p:txBody>
      </p:sp>
      <p:sp>
        <p:nvSpPr>
          <p:cNvPr id="20" name="Text 18"/>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14</a:t>
            </a:r>
            <a:endParaRPr lang="en-US" sz="1000" dirty="0"/>
          </a:p>
        </p:txBody>
      </p:sp>
      <p:sp>
        <p:nvSpPr>
          <p:cNvPr id="22" name="Oval 21">
            <a:extLst>
              <a:ext uri="{FF2B5EF4-FFF2-40B4-BE49-F238E27FC236}">
                <a16:creationId xmlns:a16="http://schemas.microsoft.com/office/drawing/2014/main" id="{21415681-3641-0F37-D6DA-9AE45E9911A4}"/>
              </a:ext>
            </a:extLst>
          </p:cNvPr>
          <p:cNvSpPr/>
          <p:nvPr/>
        </p:nvSpPr>
        <p:spPr>
          <a:xfrm>
            <a:off x="5767578" y="6228456"/>
            <a:ext cx="843534"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14</a:t>
            </a:r>
          </a:p>
        </p:txBody>
      </p:sp>
      <p:sp>
        <p:nvSpPr>
          <p:cNvPr id="23" name="TextBox 22">
            <a:extLst>
              <a:ext uri="{FF2B5EF4-FFF2-40B4-BE49-F238E27FC236}">
                <a16:creationId xmlns:a16="http://schemas.microsoft.com/office/drawing/2014/main" id="{47D83D5D-640B-959F-0F2C-E284BE04FD0D}"/>
              </a:ext>
            </a:extLst>
          </p:cNvPr>
          <p:cNvSpPr txBox="1"/>
          <p:nvPr/>
        </p:nvSpPr>
        <p:spPr>
          <a:xfrm>
            <a:off x="552815" y="3331287"/>
            <a:ext cx="5133097" cy="715581"/>
          </a:xfrm>
          <a:prstGeom prst="rect">
            <a:avLst/>
          </a:prstGeom>
          <a:noFill/>
        </p:spPr>
        <p:txBody>
          <a:bodyPr wrap="square" rtlCol="0">
            <a:spAutoFit/>
          </a:bodyPr>
          <a:lstStyle/>
          <a:p>
            <a:pPr algn="just"/>
            <a:r>
              <a:rPr lang="en-US" sz="1350" dirty="0"/>
              <a:t>The lower cross-validation performance indicates that model accuracy varies across different data partitions, suggesting that the single test-set performance may be optimistic.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C68A2E"/>
                </a:solidFill>
                <a:latin typeface="Calibri" pitchFamily="34" charset="0"/>
                <a:ea typeface="Calibri" pitchFamily="34" charset="-122"/>
                <a:cs typeface="Calibri" pitchFamily="34" charset="-120"/>
              </a:rPr>
              <a:t>APPLICATIONS</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A2E24"/>
                </a:solidFill>
                <a:latin typeface="Cambria" pitchFamily="34" charset="0"/>
                <a:ea typeface="Cambria" pitchFamily="34" charset="-122"/>
                <a:cs typeface="Cambria" pitchFamily="34" charset="-120"/>
              </a:rPr>
              <a:t>From Prediction to Decision</a:t>
            </a:r>
            <a:endParaRPr lang="en-US" sz="3000" dirty="0"/>
          </a:p>
        </p:txBody>
      </p:sp>
      <p:sp>
        <p:nvSpPr>
          <p:cNvPr id="4" name="Shape 2"/>
          <p:cNvSpPr/>
          <p:nvPr/>
        </p:nvSpPr>
        <p:spPr>
          <a:xfrm>
            <a:off x="548640" y="1554480"/>
            <a:ext cx="5440680" cy="4617720"/>
          </a:xfrm>
          <a:prstGeom prst="roundRect">
            <a:avLst>
              <a:gd name="adj" fmla="val 1980"/>
            </a:avLst>
          </a:prstGeom>
          <a:solidFill>
            <a:srgbClr val="E7F0DD"/>
          </a:solidFill>
          <a:ln/>
        </p:spPr>
      </p:sp>
      <p:sp>
        <p:nvSpPr>
          <p:cNvPr id="5" name="Text 3"/>
          <p:cNvSpPr/>
          <p:nvPr/>
        </p:nvSpPr>
        <p:spPr>
          <a:xfrm>
            <a:off x="822960" y="1783080"/>
            <a:ext cx="4937760" cy="457200"/>
          </a:xfrm>
          <a:prstGeom prst="rect">
            <a:avLst/>
          </a:prstGeom>
          <a:noFill/>
          <a:ln/>
        </p:spPr>
        <p:txBody>
          <a:bodyPr wrap="square"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  For Farmers</a:t>
            </a:r>
            <a:endParaRPr lang="en-US" sz="1800" dirty="0"/>
          </a:p>
        </p:txBody>
      </p:sp>
      <p:sp>
        <p:nvSpPr>
          <p:cNvPr id="6" name="Text 4"/>
          <p:cNvSpPr/>
          <p:nvPr/>
        </p:nvSpPr>
        <p:spPr>
          <a:xfrm>
            <a:off x="822960" y="2331720"/>
            <a:ext cx="4937760" cy="3657600"/>
          </a:xfrm>
          <a:prstGeom prst="rect">
            <a:avLst/>
          </a:prstGeom>
          <a:noFill/>
          <a:ln/>
        </p:spPr>
        <p:txBody>
          <a:bodyPr wrap="square" rtlCol="0" anchor="ctr"/>
          <a:lstStyle/>
          <a:p>
            <a:pPr marL="285750" indent="-285750">
              <a:lnSpc>
                <a:spcPct val="125000"/>
              </a:lnSpc>
              <a:spcAft>
                <a:spcPts val="1100"/>
              </a:spcAft>
              <a:buFont typeface="Arial" panose="020B0604020202020204" pitchFamily="34" charset="0"/>
              <a:buChar char="•"/>
            </a:pPr>
            <a:r>
              <a:rPr lang="en-US" sz="1400" b="1" dirty="0">
                <a:solidFill>
                  <a:srgbClr val="2A2E24"/>
                </a:solidFill>
                <a:latin typeface="Calibri" pitchFamily="34" charset="0"/>
                <a:ea typeface="Calibri" pitchFamily="34" charset="-122"/>
                <a:cs typeface="Calibri" pitchFamily="34" charset="-120"/>
              </a:rPr>
              <a:t>Input allocation - size fertilizer/pesticide spend to the yield a plot is actually forecast to produce.</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2A2E24"/>
                </a:solidFill>
                <a:latin typeface="Calibri" pitchFamily="34" charset="0"/>
                <a:ea typeface="Calibri" pitchFamily="34" charset="-122"/>
                <a:cs typeface="Calibri" pitchFamily="34" charset="-120"/>
              </a:rPr>
              <a:t>Risk-aware planning - wide prediction ranges signal when to hedge (diversify crops, buy insurance, delay big spend).</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2A2E24"/>
                </a:solidFill>
                <a:latin typeface="Calibri" pitchFamily="34" charset="0"/>
                <a:ea typeface="Calibri" pitchFamily="34" charset="-122"/>
                <a:cs typeface="Calibri" pitchFamily="34" charset="-120"/>
              </a:rPr>
              <a:t>Market &amp; storage timing - an early yield estimate supports selling, storage, and logistics decisions ahead of harvest.</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2A2E24"/>
                </a:solidFill>
                <a:latin typeface="Calibri" pitchFamily="34" charset="0"/>
                <a:ea typeface="Calibri" pitchFamily="34" charset="-122"/>
                <a:cs typeface="Calibri" pitchFamily="34" charset="-120"/>
              </a:rPr>
              <a:t>Crop choice - since crop type dominates yield, forecasts by crop help compare options for a given plot and climate.</a:t>
            </a:r>
            <a:endParaRPr lang="en-US" sz="1400" b="1" dirty="0"/>
          </a:p>
        </p:txBody>
      </p:sp>
      <p:sp>
        <p:nvSpPr>
          <p:cNvPr id="7" name="Shape 5"/>
          <p:cNvSpPr/>
          <p:nvPr/>
        </p:nvSpPr>
        <p:spPr>
          <a:xfrm>
            <a:off x="6217920" y="1554480"/>
            <a:ext cx="5440680" cy="4617720"/>
          </a:xfrm>
          <a:prstGeom prst="roundRect">
            <a:avLst>
              <a:gd name="adj" fmla="val 1980"/>
            </a:avLst>
          </a:prstGeom>
          <a:solidFill>
            <a:srgbClr val="2C5F2D"/>
          </a:solidFill>
          <a:ln/>
        </p:spPr>
      </p:sp>
      <p:sp>
        <p:nvSpPr>
          <p:cNvPr id="8" name="Text 6"/>
          <p:cNvSpPr/>
          <p:nvPr/>
        </p:nvSpPr>
        <p:spPr>
          <a:xfrm>
            <a:off x="6492240" y="1783080"/>
            <a:ext cx="493776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  For Policy</a:t>
            </a:r>
            <a:endParaRPr lang="en-US" sz="1800" dirty="0"/>
          </a:p>
        </p:txBody>
      </p:sp>
      <p:sp>
        <p:nvSpPr>
          <p:cNvPr id="9" name="Text 7"/>
          <p:cNvSpPr/>
          <p:nvPr/>
        </p:nvSpPr>
        <p:spPr>
          <a:xfrm>
            <a:off x="6492240" y="2331720"/>
            <a:ext cx="4937760" cy="3657600"/>
          </a:xfrm>
          <a:prstGeom prst="rect">
            <a:avLst/>
          </a:prstGeom>
          <a:noFill/>
          <a:ln/>
        </p:spPr>
        <p:txBody>
          <a:bodyPr wrap="square" rtlCol="0" anchor="ctr"/>
          <a:lstStyle/>
          <a:p>
            <a:pPr marL="285750" indent="-285750">
              <a:lnSpc>
                <a:spcPct val="125000"/>
              </a:lnSpc>
              <a:spcAft>
                <a:spcPts val="1100"/>
              </a:spcAft>
              <a:buFont typeface="Arial" panose="020B0604020202020204" pitchFamily="34" charset="0"/>
              <a:buChar char="•"/>
            </a:pPr>
            <a:r>
              <a:rPr lang="en-US" sz="1400" b="1" dirty="0">
                <a:solidFill>
                  <a:srgbClr val="FFFFFF"/>
                </a:solidFill>
                <a:latin typeface="Calibri" pitchFamily="34" charset="0"/>
                <a:ea typeface="Calibri" pitchFamily="34" charset="-122"/>
                <a:cs typeface="Calibri" pitchFamily="34" charset="-120"/>
              </a:rPr>
              <a:t>Food security planning</a:t>
            </a:r>
            <a:r>
              <a:rPr lang="en-US" sz="1400" b="1" dirty="0">
                <a:solidFill>
                  <a:srgbClr val="E7F0DD"/>
                </a:solidFill>
                <a:latin typeface="Calibri" pitchFamily="34" charset="0"/>
                <a:ea typeface="Calibri" pitchFamily="34" charset="-122"/>
                <a:cs typeface="Calibri" pitchFamily="34" charset="-120"/>
              </a:rPr>
              <a:t> - early production estimates by region/crop support national supply planning.</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FFFFFF"/>
                </a:solidFill>
                <a:latin typeface="Calibri" pitchFamily="34" charset="0"/>
                <a:ea typeface="Calibri" pitchFamily="34" charset="-122"/>
                <a:cs typeface="Calibri" pitchFamily="34" charset="-120"/>
              </a:rPr>
              <a:t>Targeted input support</a:t>
            </a:r>
            <a:r>
              <a:rPr lang="en-US" sz="1400" b="1" dirty="0">
                <a:solidFill>
                  <a:srgbClr val="E7F0DD"/>
                </a:solidFill>
                <a:latin typeface="Calibri" pitchFamily="34" charset="0"/>
                <a:ea typeface="Calibri" pitchFamily="34" charset="-122"/>
                <a:cs typeface="Calibri" pitchFamily="34" charset="-120"/>
              </a:rPr>
              <a:t> - direct subsidies, extension services, and irrigation investment to areas forecast for shortfall.</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FFFFFF"/>
                </a:solidFill>
                <a:latin typeface="Calibri" pitchFamily="34" charset="0"/>
                <a:ea typeface="Calibri" pitchFamily="34" charset="-122"/>
                <a:cs typeface="Calibri" pitchFamily="34" charset="-120"/>
              </a:rPr>
              <a:t>Proactive response</a:t>
            </a:r>
            <a:r>
              <a:rPr lang="en-US" sz="1400" b="1" dirty="0">
                <a:solidFill>
                  <a:srgbClr val="E7F0DD"/>
                </a:solidFill>
                <a:latin typeface="Calibri" pitchFamily="34" charset="0"/>
                <a:ea typeface="Calibri" pitchFamily="34" charset="-122"/>
                <a:cs typeface="Calibri" pitchFamily="34" charset="-120"/>
              </a:rPr>
              <a:t> - flag likely shortfalls early enough to plan imports or reserves.</a:t>
            </a:r>
            <a:endParaRPr lang="en-US" sz="1400" b="1" dirty="0"/>
          </a:p>
          <a:p>
            <a:pPr marL="285750" indent="-285750">
              <a:lnSpc>
                <a:spcPct val="125000"/>
              </a:lnSpc>
              <a:spcAft>
                <a:spcPts val="1100"/>
              </a:spcAft>
              <a:buFont typeface="Arial" panose="020B0604020202020204" pitchFamily="34" charset="0"/>
              <a:buChar char="•"/>
            </a:pPr>
            <a:r>
              <a:rPr lang="en-US" sz="1400" b="1" dirty="0">
                <a:solidFill>
                  <a:srgbClr val="FFFFFF"/>
                </a:solidFill>
                <a:latin typeface="Calibri" pitchFamily="34" charset="0"/>
                <a:ea typeface="Calibri" pitchFamily="34" charset="-122"/>
                <a:cs typeface="Calibri" pitchFamily="34" charset="-120"/>
              </a:rPr>
              <a:t>Evidence-based planning</a:t>
            </a:r>
            <a:r>
              <a:rPr lang="en-US" sz="1400" b="1" dirty="0">
                <a:solidFill>
                  <a:srgbClr val="E7F0DD"/>
                </a:solidFill>
                <a:latin typeface="Calibri" pitchFamily="34" charset="0"/>
                <a:ea typeface="Calibri" pitchFamily="34" charset="-122"/>
                <a:cs typeface="Calibri" pitchFamily="34" charset="-120"/>
              </a:rPr>
              <a:t> - reliable forecasts strengthen the data behind agricultural policy formulation.</a:t>
            </a:r>
            <a:endParaRPr lang="en-US" sz="1400" b="1" dirty="0"/>
          </a:p>
        </p:txBody>
      </p:sp>
      <p:sp>
        <p:nvSpPr>
          <p:cNvPr id="10" name="Text 8"/>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11" name="Text 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15</a:t>
            </a:r>
            <a:endParaRPr lang="en-US" sz="1000" dirty="0"/>
          </a:p>
        </p:txBody>
      </p:sp>
      <p:sp>
        <p:nvSpPr>
          <p:cNvPr id="12" name="Oval 11">
            <a:extLst>
              <a:ext uri="{FF2B5EF4-FFF2-40B4-BE49-F238E27FC236}">
                <a16:creationId xmlns:a16="http://schemas.microsoft.com/office/drawing/2014/main" id="{79246D80-429F-BC59-7939-4B17366C7348}"/>
              </a:ext>
            </a:extLst>
          </p:cNvPr>
          <p:cNvSpPr/>
          <p:nvPr/>
        </p:nvSpPr>
        <p:spPr>
          <a:xfrm>
            <a:off x="5767578" y="6228456"/>
            <a:ext cx="843534" cy="521208"/>
          </a:xfrm>
          <a:prstGeom prst="ellipse">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3200" b="1" dirty="0">
                <a:solidFill>
                  <a:schemeClr val="bg1"/>
                </a:solidFil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1E"/>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2C5F2D">
              <a:alpha val="55000"/>
            </a:srgbClr>
          </a:solidFill>
          <a:ln/>
        </p:spPr>
      </p:sp>
      <p:sp>
        <p:nvSpPr>
          <p:cNvPr id="3" name="Text 1"/>
          <p:cNvSpPr/>
          <p:nvPr/>
        </p:nvSpPr>
        <p:spPr>
          <a:xfrm>
            <a:off x="548640" y="502920"/>
            <a:ext cx="7315200" cy="365760"/>
          </a:xfrm>
          <a:prstGeom prst="rect">
            <a:avLst/>
          </a:prstGeom>
          <a:noFill/>
          <a:ln/>
        </p:spPr>
        <p:txBody>
          <a:bodyPr wrap="square" rtlCol="0" anchor="ctr"/>
          <a:lstStyle/>
          <a:p>
            <a:pPr marL="0" indent="0">
              <a:buNone/>
            </a:pPr>
            <a:r>
              <a:rPr lang="en-US" sz="1300" b="1" kern="0" spc="150" dirty="0">
                <a:solidFill>
                  <a:srgbClr val="C68A2E"/>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868680"/>
            <a:ext cx="109728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Reliable, Interpretable Yield Forecast</a:t>
            </a:r>
            <a:endParaRPr lang="en-US" sz="2800" dirty="0"/>
          </a:p>
        </p:txBody>
      </p:sp>
      <p:sp>
        <p:nvSpPr>
          <p:cNvPr id="5" name="Text 3"/>
          <p:cNvSpPr/>
          <p:nvPr/>
        </p:nvSpPr>
        <p:spPr>
          <a:xfrm>
            <a:off x="548640" y="1645920"/>
            <a:ext cx="11064240" cy="1188720"/>
          </a:xfrm>
          <a:prstGeom prst="rect">
            <a:avLst/>
          </a:prstGeom>
          <a:noFill/>
          <a:ln/>
        </p:spPr>
        <p:txBody>
          <a:bodyPr wrap="square" rtlCol="0" anchor="ctr"/>
          <a:lstStyle/>
          <a:p>
            <a:pPr marL="0" indent="0">
              <a:lnSpc>
                <a:spcPct val="130000"/>
              </a:lnSpc>
              <a:buNone/>
            </a:pPr>
            <a:r>
              <a:rPr lang="en-US" sz="1500" dirty="0">
                <a:solidFill>
                  <a:srgbClr val="FFFFFF"/>
                </a:solidFill>
                <a:latin typeface="Calibri" pitchFamily="34" charset="0"/>
                <a:ea typeface="Calibri" pitchFamily="34" charset="-122"/>
                <a:cs typeface="Calibri" pitchFamily="34" charset="-120"/>
              </a:rPr>
              <a:t>The tuned Random Forest Regressor explains </a:t>
            </a:r>
            <a:r>
              <a:rPr lang="en-US" sz="1500" b="1" dirty="0">
                <a:solidFill>
                  <a:srgbClr val="C68A2E"/>
                </a:solidFill>
                <a:latin typeface="Calibri" pitchFamily="34" charset="0"/>
                <a:ea typeface="Calibri" pitchFamily="34" charset="-122"/>
                <a:cs typeface="Calibri" pitchFamily="34" charset="-120"/>
              </a:rPr>
              <a:t>98.5%</a:t>
            </a:r>
            <a:r>
              <a:rPr lang="en-US" sz="1500" dirty="0">
                <a:solidFill>
                  <a:srgbClr val="FFFFFF"/>
                </a:solidFill>
                <a:latin typeface="Calibri" pitchFamily="34" charset="0"/>
                <a:ea typeface="Calibri" pitchFamily="34" charset="-122"/>
                <a:cs typeface="Calibri" pitchFamily="34" charset="-120"/>
              </a:rPr>
              <a:t> of test-set yield variation (R² = 0.985), decisively outperforming Linear Regression (0.749) and XGBoost (0.943). Crop type and geographic area are the dominant drivers of yield, with pesticide use, temperature, rainfall, and year contributing complementary — though comparatively modest - signal.</a:t>
            </a:r>
            <a:endParaRPr lang="en-US" sz="1500" dirty="0"/>
          </a:p>
        </p:txBody>
      </p:sp>
      <p:sp>
        <p:nvSpPr>
          <p:cNvPr id="6" name="Shape 4"/>
          <p:cNvSpPr/>
          <p:nvPr/>
        </p:nvSpPr>
        <p:spPr>
          <a:xfrm>
            <a:off x="548640" y="3063240"/>
            <a:ext cx="11064240" cy="713232"/>
          </a:xfrm>
          <a:prstGeom prst="roundRect">
            <a:avLst>
              <a:gd name="adj" fmla="val 8974"/>
            </a:avLst>
          </a:prstGeom>
          <a:solidFill>
            <a:srgbClr val="2C5F2D"/>
          </a:solidFill>
          <a:ln/>
        </p:spPr>
      </p:sp>
      <p:sp>
        <p:nvSpPr>
          <p:cNvPr id="7" name="Shape 5"/>
          <p:cNvSpPr/>
          <p:nvPr/>
        </p:nvSpPr>
        <p:spPr>
          <a:xfrm>
            <a:off x="731520" y="3209544"/>
            <a:ext cx="420624" cy="420624"/>
          </a:xfrm>
          <a:prstGeom prst="ellipse">
            <a:avLst/>
          </a:prstGeom>
          <a:solidFill>
            <a:srgbClr val="C68A2E"/>
          </a:solidFill>
          <a:ln/>
        </p:spPr>
      </p:sp>
      <p:sp>
        <p:nvSpPr>
          <p:cNvPr id="8" name="Text 6"/>
          <p:cNvSpPr/>
          <p:nvPr/>
        </p:nvSpPr>
        <p:spPr>
          <a:xfrm>
            <a:off x="731520" y="3209544"/>
            <a:ext cx="420624" cy="420624"/>
          </a:xfrm>
          <a:prstGeom prst="rect">
            <a:avLst/>
          </a:prstGeom>
          <a:noFill/>
          <a:ln/>
        </p:spPr>
        <p:txBody>
          <a:bodyPr wrap="square" rtlCol="0" anchor="ctr"/>
          <a:lstStyle/>
          <a:p>
            <a:pPr marL="0" indent="0" algn="ctr">
              <a:buNone/>
            </a:pPr>
            <a:r>
              <a:rPr lang="en-US" sz="1400" b="1" dirty="0">
                <a:solidFill>
                  <a:srgbClr val="1B3A1E"/>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371600" y="3063240"/>
            <a:ext cx="9966960" cy="71323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Deploy the tuned Random Forest as the production forecasting model, paired with tree-spread uncertainty bands.</a:t>
            </a:r>
            <a:endParaRPr lang="en-US" sz="1300" dirty="0"/>
          </a:p>
        </p:txBody>
      </p:sp>
      <p:sp>
        <p:nvSpPr>
          <p:cNvPr id="10" name="Shape 8"/>
          <p:cNvSpPr/>
          <p:nvPr/>
        </p:nvSpPr>
        <p:spPr>
          <a:xfrm>
            <a:off x="548640" y="3886200"/>
            <a:ext cx="11064240" cy="713232"/>
          </a:xfrm>
          <a:prstGeom prst="roundRect">
            <a:avLst>
              <a:gd name="adj" fmla="val 8974"/>
            </a:avLst>
          </a:prstGeom>
          <a:solidFill>
            <a:srgbClr val="2C5F2D"/>
          </a:solidFill>
          <a:ln/>
        </p:spPr>
      </p:sp>
      <p:sp>
        <p:nvSpPr>
          <p:cNvPr id="11" name="Shape 9"/>
          <p:cNvSpPr/>
          <p:nvPr/>
        </p:nvSpPr>
        <p:spPr>
          <a:xfrm>
            <a:off x="731520" y="4032504"/>
            <a:ext cx="420624" cy="420624"/>
          </a:xfrm>
          <a:prstGeom prst="ellipse">
            <a:avLst/>
          </a:prstGeom>
          <a:solidFill>
            <a:srgbClr val="C68A2E"/>
          </a:solidFill>
          <a:ln/>
        </p:spPr>
      </p:sp>
      <p:sp>
        <p:nvSpPr>
          <p:cNvPr id="12" name="Text 10"/>
          <p:cNvSpPr/>
          <p:nvPr/>
        </p:nvSpPr>
        <p:spPr>
          <a:xfrm>
            <a:off x="731520" y="4032504"/>
            <a:ext cx="420624" cy="420624"/>
          </a:xfrm>
          <a:prstGeom prst="rect">
            <a:avLst/>
          </a:prstGeom>
          <a:noFill/>
          <a:ln/>
        </p:spPr>
        <p:txBody>
          <a:bodyPr wrap="square" rtlCol="0" anchor="ctr"/>
          <a:lstStyle/>
          <a:p>
            <a:pPr marL="0" indent="0" algn="ctr">
              <a:buNone/>
            </a:pPr>
            <a:r>
              <a:rPr lang="en-US" sz="1400" b="1" dirty="0">
                <a:solidFill>
                  <a:srgbClr val="1B3A1E"/>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3886200"/>
            <a:ext cx="9966960" cy="71323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Interpret single-split accuracy cautiously — cross-validation shows performance varies by data partition.</a:t>
            </a:r>
            <a:endParaRPr lang="en-US" sz="1300" dirty="0"/>
          </a:p>
        </p:txBody>
      </p:sp>
      <p:sp>
        <p:nvSpPr>
          <p:cNvPr id="14" name="Shape 12"/>
          <p:cNvSpPr/>
          <p:nvPr/>
        </p:nvSpPr>
        <p:spPr>
          <a:xfrm>
            <a:off x="548640" y="4709160"/>
            <a:ext cx="11064240" cy="713232"/>
          </a:xfrm>
          <a:prstGeom prst="roundRect">
            <a:avLst>
              <a:gd name="adj" fmla="val 8974"/>
            </a:avLst>
          </a:prstGeom>
          <a:solidFill>
            <a:srgbClr val="2C5F2D"/>
          </a:solidFill>
          <a:ln/>
        </p:spPr>
      </p:sp>
      <p:sp>
        <p:nvSpPr>
          <p:cNvPr id="15" name="Shape 13"/>
          <p:cNvSpPr/>
          <p:nvPr/>
        </p:nvSpPr>
        <p:spPr>
          <a:xfrm>
            <a:off x="731520" y="4855464"/>
            <a:ext cx="420624" cy="420624"/>
          </a:xfrm>
          <a:prstGeom prst="ellipse">
            <a:avLst/>
          </a:prstGeom>
          <a:solidFill>
            <a:srgbClr val="C68A2E"/>
          </a:solidFill>
          <a:ln/>
        </p:spPr>
      </p:sp>
      <p:sp>
        <p:nvSpPr>
          <p:cNvPr id="16" name="Text 14"/>
          <p:cNvSpPr/>
          <p:nvPr/>
        </p:nvSpPr>
        <p:spPr>
          <a:xfrm>
            <a:off x="731520" y="4855464"/>
            <a:ext cx="420624" cy="420624"/>
          </a:xfrm>
          <a:prstGeom prst="rect">
            <a:avLst/>
          </a:prstGeom>
          <a:noFill/>
          <a:ln/>
        </p:spPr>
        <p:txBody>
          <a:bodyPr wrap="square" rtlCol="0" anchor="ctr"/>
          <a:lstStyle/>
          <a:p>
            <a:pPr marL="0" indent="0" algn="ctr">
              <a:buNone/>
            </a:pPr>
            <a:r>
              <a:rPr lang="en-US" sz="1400" b="1" dirty="0">
                <a:solidFill>
                  <a:srgbClr val="1B3A1E"/>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371600" y="4709160"/>
            <a:ext cx="9966960" cy="71323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Use crop- and area-specific forecasts to guide farmer input allocation and risk planning.</a:t>
            </a:r>
            <a:endParaRPr lang="en-US" sz="1300" dirty="0"/>
          </a:p>
        </p:txBody>
      </p:sp>
      <p:sp>
        <p:nvSpPr>
          <p:cNvPr id="18" name="Shape 16"/>
          <p:cNvSpPr/>
          <p:nvPr/>
        </p:nvSpPr>
        <p:spPr>
          <a:xfrm>
            <a:off x="548640" y="5532120"/>
            <a:ext cx="11064240" cy="713232"/>
          </a:xfrm>
          <a:prstGeom prst="roundRect">
            <a:avLst>
              <a:gd name="adj" fmla="val 8974"/>
            </a:avLst>
          </a:prstGeom>
          <a:solidFill>
            <a:srgbClr val="2C5F2D"/>
          </a:solidFill>
          <a:ln/>
        </p:spPr>
      </p:sp>
      <p:sp>
        <p:nvSpPr>
          <p:cNvPr id="19" name="Shape 17"/>
          <p:cNvSpPr/>
          <p:nvPr/>
        </p:nvSpPr>
        <p:spPr>
          <a:xfrm>
            <a:off x="731520" y="5678424"/>
            <a:ext cx="420624" cy="420624"/>
          </a:xfrm>
          <a:prstGeom prst="ellipse">
            <a:avLst/>
          </a:prstGeom>
          <a:solidFill>
            <a:srgbClr val="C68A2E"/>
          </a:solidFill>
          <a:ln/>
        </p:spPr>
      </p:sp>
      <p:sp>
        <p:nvSpPr>
          <p:cNvPr id="20" name="Text 18"/>
          <p:cNvSpPr/>
          <p:nvPr/>
        </p:nvSpPr>
        <p:spPr>
          <a:xfrm>
            <a:off x="731520" y="5678424"/>
            <a:ext cx="420624" cy="420624"/>
          </a:xfrm>
          <a:prstGeom prst="rect">
            <a:avLst/>
          </a:prstGeom>
          <a:noFill/>
          <a:ln/>
        </p:spPr>
        <p:txBody>
          <a:bodyPr wrap="square" rtlCol="0" anchor="ctr"/>
          <a:lstStyle/>
          <a:p>
            <a:pPr marL="0" indent="0" algn="ctr">
              <a:buNone/>
            </a:pPr>
            <a:r>
              <a:rPr lang="en-US" sz="1400" b="1" dirty="0">
                <a:solidFill>
                  <a:srgbClr val="1B3A1E"/>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371600" y="5532120"/>
            <a:ext cx="9966960" cy="71323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Feed regional forecasts into food-security and input-support policy planning ahead of harvest.</a:t>
            </a:r>
            <a:endParaRPr lang="en-US" sz="1300" dirty="0"/>
          </a:p>
        </p:txBody>
      </p:sp>
      <p:sp>
        <p:nvSpPr>
          <p:cNvPr id="22" name="Text 20"/>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66"/>
                </a:solidFill>
                <a:latin typeface="Calibri" pitchFamily="34" charset="0"/>
                <a:ea typeface="Calibri" pitchFamily="34" charset="-122"/>
                <a:cs typeface="Calibri" pitchFamily="34" charset="-120"/>
              </a:rPr>
              <a:t>16</a:t>
            </a:r>
            <a:endParaRPr lang="en-US" sz="1000" dirty="0"/>
          </a:p>
        </p:txBody>
      </p:sp>
      <p:sp>
        <p:nvSpPr>
          <p:cNvPr id="24"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E7F0DD"/>
                </a:solidFill>
                <a:latin typeface="Calibri" pitchFamily="34" charset="0"/>
                <a:ea typeface="Calibri" pitchFamily="34" charset="-122"/>
                <a:cs typeface="Calibri" pitchFamily="34" charset="-120"/>
              </a:rPr>
              <a:t>16</a:t>
            </a:r>
            <a:endParaRPr lang="en-US" sz="1000" dirty="0"/>
          </a:p>
        </p:txBody>
      </p:sp>
      <p:sp>
        <p:nvSpPr>
          <p:cNvPr id="25" name="Text 23"/>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E7F0DD"/>
                </a:solidFill>
                <a:latin typeface="Calibri" pitchFamily="34" charset="0"/>
                <a:ea typeface="Calibri" pitchFamily="34" charset="-122"/>
                <a:cs typeface="Calibri" pitchFamily="34" charset="-120"/>
              </a:rPr>
              <a:t>Crop Yield Prediction  |  Capstone Project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3A1E"/>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2C5F2D">
              <a:alpha val="55000"/>
            </a:srgbClr>
          </a:solidFill>
          <a:ln/>
        </p:spPr>
      </p:sp>
      <p:sp>
        <p:nvSpPr>
          <p:cNvPr id="4" name="Text 2"/>
          <p:cNvSpPr/>
          <p:nvPr/>
        </p:nvSpPr>
        <p:spPr>
          <a:xfrm>
            <a:off x="935665" y="2788920"/>
            <a:ext cx="10972800" cy="64008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rPr>
              <a:t>THANK YOU FOR LISTENING</a:t>
            </a:r>
            <a:endParaRPr lang="en-US" sz="5400" dirty="0"/>
          </a:p>
        </p:txBody>
      </p:sp>
      <p:sp>
        <p:nvSpPr>
          <p:cNvPr id="22" name="Text 20"/>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66"/>
                </a:solidFill>
                <a:latin typeface="Calibri" pitchFamily="34" charset="0"/>
                <a:ea typeface="Calibri" pitchFamily="34" charset="-122"/>
                <a:cs typeface="Calibri" pitchFamily="34" charset="-120"/>
              </a:rPr>
              <a:t>Crop Yield Prediction  |  Capstone Project</a:t>
            </a:r>
            <a:endParaRPr lang="en-US" sz="1000" dirty="0"/>
          </a:p>
        </p:txBody>
      </p:sp>
      <p:sp>
        <p:nvSpPr>
          <p:cNvPr id="25" name="Text 23"/>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E7F0DD"/>
                </a:solidFill>
                <a:latin typeface="Calibri" pitchFamily="34" charset="0"/>
                <a:ea typeface="Calibri" pitchFamily="34" charset="-122"/>
                <a:cs typeface="Calibri" pitchFamily="34" charset="-120"/>
              </a:rPr>
              <a:t>Crop Yield Prediction  |  Capstone Project</a:t>
            </a:r>
            <a:endParaRPr lang="en-US" sz="1000" dirty="0"/>
          </a:p>
        </p:txBody>
      </p:sp>
    </p:spTree>
    <p:extLst>
      <p:ext uri="{BB962C8B-B14F-4D97-AF65-F5344CB8AC3E}">
        <p14:creationId xmlns:p14="http://schemas.microsoft.com/office/powerpoint/2010/main" val="4115761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1826</Words>
  <Application>Microsoft Office PowerPoint</Application>
  <PresentationFormat>Widescreen</PresentationFormat>
  <Paragraphs>284</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BrowalliaUPC</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cp:revision>
  <dcterms:created xsi:type="dcterms:W3CDTF">2026-08-03T20:08:56Z</dcterms:created>
  <dcterms:modified xsi:type="dcterms:W3CDTF">2026-08-04T06:45:57Z</dcterms:modified>
</cp:coreProperties>
</file>